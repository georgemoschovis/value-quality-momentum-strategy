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9"/>
  </p:notesMasterIdLst>
  <p:handoutMasterIdLst>
    <p:handoutMasterId r:id="rId20"/>
  </p:handoutMasterIdLst>
  <p:sldIdLst>
    <p:sldId id="256" r:id="rId2"/>
    <p:sldId id="289" r:id="rId3"/>
    <p:sldId id="290" r:id="rId4"/>
    <p:sldId id="276" r:id="rId5"/>
    <p:sldId id="291" r:id="rId6"/>
    <p:sldId id="292" r:id="rId7"/>
    <p:sldId id="298" r:id="rId8"/>
    <p:sldId id="293" r:id="rId9"/>
    <p:sldId id="294" r:id="rId10"/>
    <p:sldId id="295" r:id="rId11"/>
    <p:sldId id="300" r:id="rId12"/>
    <p:sldId id="301" r:id="rId13"/>
    <p:sldId id="296" r:id="rId14"/>
    <p:sldId id="297" r:id="rId15"/>
    <p:sldId id="299" r:id="rId16"/>
    <p:sldId id="302" r:id="rId17"/>
    <p:sldId id="30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19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7512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624" userDrawn="1">
          <p15:clr>
            <a:srgbClr val="A4A3A4"/>
          </p15:clr>
        </p15:guide>
        <p15:guide id="6" orient="horz" pos="40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71157" autoAdjust="0"/>
  </p:normalViewPr>
  <p:slideViewPr>
    <p:cSldViewPr snapToGrid="0" showGuides="1">
      <p:cViewPr varScale="1">
        <p:scale>
          <a:sx n="58" d="100"/>
          <a:sy n="58" d="100"/>
        </p:scale>
        <p:origin x="1555" y="62"/>
      </p:cViewPr>
      <p:guideLst>
        <p:guide orient="horz" pos="2319"/>
        <p:guide pos="3864"/>
        <p:guide pos="7512"/>
        <p:guide pos="143"/>
        <p:guide orient="horz" pos="624"/>
        <p:guide orient="horz" pos="405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1" d="100"/>
          <a:sy n="71" d="100"/>
        </p:scale>
        <p:origin x="2676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785789755707778"/>
          <c:y val="0.11422623330157311"/>
          <c:w val="0.48947799696975069"/>
          <c:h val="0.77615583392825893"/>
        </c:manualLayout>
      </c:layout>
      <c:doughnutChart>
        <c:varyColors val="1"/>
        <c:ser>
          <c:idx val="0"/>
          <c:order val="0"/>
          <c:tx>
            <c:strRef>
              <c:f>Sheet1!$M$4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B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D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F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1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3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Sheet1!$M$5:$M$30</c:f>
              <c:numCache>
                <c:formatCode>General</c:formatCode>
                <c:ptCount val="26"/>
                <c:pt idx="0" formatCode="0%">
                  <c:v>0.25</c:v>
                </c:pt>
                <c:pt idx="6" formatCode="0%">
                  <c:v>0.2</c:v>
                </c:pt>
                <c:pt idx="11" formatCode="0%">
                  <c:v>0.15000000000000002</c:v>
                </c:pt>
                <c:pt idx="15" formatCode="0%">
                  <c:v>0.1</c:v>
                </c:pt>
                <c:pt idx="18" formatCode="0%">
                  <c:v>0.2</c:v>
                </c:pt>
                <c:pt idx="23" formatCode="0%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4-66B8-423C-9E9E-B2F06373322F}"/>
            </c:ext>
          </c:extLst>
        </c:ser>
        <c:ser>
          <c:idx val="1"/>
          <c:order val="1"/>
          <c:tx>
            <c:strRef>
              <c:f>Sheet1!$N$4</c:f>
              <c:strCache>
                <c:ptCount val="1"/>
                <c:pt idx="0">
                  <c:v>Position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6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8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A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C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E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0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2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4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6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8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A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C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E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0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2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4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6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8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A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C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E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0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2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4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6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8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Sheet1!$N$5:$N$30</c:f>
              <c:numCache>
                <c:formatCode>0%</c:formatCode>
                <c:ptCount val="26"/>
                <c:pt idx="1">
                  <c:v>0.05</c:v>
                </c:pt>
                <c:pt idx="2">
                  <c:v>0.05</c:v>
                </c:pt>
                <c:pt idx="3">
                  <c:v>0.05</c:v>
                </c:pt>
                <c:pt idx="4">
                  <c:v>0.05</c:v>
                </c:pt>
                <c:pt idx="5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  <c:pt idx="10">
                  <c:v>0.05</c:v>
                </c:pt>
                <c:pt idx="12">
                  <c:v>0.05</c:v>
                </c:pt>
                <c:pt idx="13">
                  <c:v>0.05</c:v>
                </c:pt>
                <c:pt idx="14">
                  <c:v>0.05</c:v>
                </c:pt>
                <c:pt idx="16">
                  <c:v>0.05</c:v>
                </c:pt>
                <c:pt idx="17">
                  <c:v>0.05</c:v>
                </c:pt>
                <c:pt idx="19">
                  <c:v>0.05</c:v>
                </c:pt>
                <c:pt idx="20">
                  <c:v>0.05</c:v>
                </c:pt>
                <c:pt idx="21">
                  <c:v>0.05</c:v>
                </c:pt>
                <c:pt idx="22">
                  <c:v>0.05</c:v>
                </c:pt>
                <c:pt idx="24">
                  <c:v>0.05</c:v>
                </c:pt>
                <c:pt idx="25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69-66B8-423C-9E9E-B2F06373322F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0.7966</cdr:x>
      <cdr:y>0.12467</cdr:y>
    </cdr:from>
    <cdr:to>
      <cdr:x>0.84489</cdr:x>
      <cdr:y>0.50381</cdr:y>
    </cdr:to>
    <cdr:sp macro="" textlink="">
      <cdr:nvSpPr>
        <cdr:cNvPr id="2" name="Right Brace 1">
          <a:extLst xmlns:a="http://schemas.openxmlformats.org/drawingml/2006/main">
            <a:ext uri="{FF2B5EF4-FFF2-40B4-BE49-F238E27FC236}">
              <a16:creationId xmlns:a16="http://schemas.microsoft.com/office/drawing/2014/main" id="{B03AE7C7-2550-8B98-67ED-4BBFC7928A7F}"/>
            </a:ext>
          </a:extLst>
        </cdr:cNvPr>
        <cdr:cNvSpPr/>
      </cdr:nvSpPr>
      <cdr:spPr>
        <a:xfrm xmlns:a="http://schemas.openxmlformats.org/drawingml/2006/main">
          <a:off x="7275531" y="718081"/>
          <a:ext cx="441064" cy="2183802"/>
        </a:xfrm>
        <a:prstGeom xmlns:a="http://schemas.openxmlformats.org/drawingml/2006/main" prst="rightBrace">
          <a:avLst/>
        </a:prstGeom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fr-FR"/>
        </a:p>
      </cdr:txBody>
    </cdr:sp>
  </cdr:relSizeAnchor>
  <cdr:relSizeAnchor xmlns:cdr="http://schemas.openxmlformats.org/drawingml/2006/chartDrawing">
    <cdr:from>
      <cdr:x>0.57132</cdr:x>
      <cdr:y>0.11841</cdr:y>
    </cdr:from>
    <cdr:to>
      <cdr:x>0.79167</cdr:x>
      <cdr:y>0.1227</cdr:y>
    </cdr:to>
    <cdr:cxnSp macro="">
      <cdr:nvCxnSpPr>
        <cdr:cNvPr id="4" name="Straight Connector 3">
          <a:extLst xmlns:a="http://schemas.openxmlformats.org/drawingml/2006/main">
            <a:ext uri="{FF2B5EF4-FFF2-40B4-BE49-F238E27FC236}">
              <a16:creationId xmlns:a16="http://schemas.microsoft.com/office/drawing/2014/main" id="{6F6E8E9C-17BF-F716-7E4D-E35E654396B6}"/>
            </a:ext>
          </a:extLst>
        </cdr:cNvPr>
        <cdr:cNvCxnSpPr/>
      </cdr:nvCxnSpPr>
      <cdr:spPr>
        <a:xfrm xmlns:a="http://schemas.openxmlformats.org/drawingml/2006/main" flipH="1" flipV="1">
          <a:off x="5218005" y="682047"/>
          <a:ext cx="2012494" cy="2467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0.76067</cdr:x>
      <cdr:y>0.50365</cdr:y>
    </cdr:from>
    <cdr:to>
      <cdr:x>0.79344</cdr:x>
      <cdr:y>0.50428</cdr:y>
    </cdr:to>
    <cdr:cxnSp macro="">
      <cdr:nvCxnSpPr>
        <cdr:cNvPr id="8" name="Straight Connector 7">
          <a:extLst xmlns:a="http://schemas.openxmlformats.org/drawingml/2006/main">
            <a:ext uri="{FF2B5EF4-FFF2-40B4-BE49-F238E27FC236}">
              <a16:creationId xmlns:a16="http://schemas.microsoft.com/office/drawing/2014/main" id="{5D392767-4797-3EBB-DC5E-D98BDC4F3318}"/>
            </a:ext>
          </a:extLst>
        </cdr:cNvPr>
        <cdr:cNvCxnSpPr/>
      </cdr:nvCxnSpPr>
      <cdr:spPr>
        <a:xfrm xmlns:a="http://schemas.openxmlformats.org/drawingml/2006/main" flipH="1" flipV="1">
          <a:off x="6947423" y="2900922"/>
          <a:ext cx="299213" cy="366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0.85078</cdr:x>
      <cdr:y>0.26013</cdr:y>
    </cdr:from>
    <cdr:to>
      <cdr:x>1</cdr:x>
      <cdr:y>0.41702</cdr:y>
    </cdr:to>
    <cdr:sp macro="" textlink="">
      <cdr:nvSpPr>
        <cdr:cNvPr id="11" name="TextBox 10">
          <a:extLst xmlns:a="http://schemas.openxmlformats.org/drawingml/2006/main">
            <a:ext uri="{FF2B5EF4-FFF2-40B4-BE49-F238E27FC236}">
              <a16:creationId xmlns:a16="http://schemas.microsoft.com/office/drawing/2014/main" id="{0E82B565-EFB6-CCDF-E434-D1D37568F4E8}"/>
            </a:ext>
          </a:extLst>
        </cdr:cNvPr>
        <cdr:cNvSpPr txBox="1"/>
      </cdr:nvSpPr>
      <cdr:spPr>
        <a:xfrm xmlns:a="http://schemas.openxmlformats.org/drawingml/2006/main">
          <a:off x="7770380" y="1498320"/>
          <a:ext cx="1362862" cy="90365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de-DE" sz="1200" b="1" dirty="0">
              <a:solidFill>
                <a:srgbClr val="F5F5F5"/>
              </a:solidFill>
              <a:highlight>
                <a:srgbClr val="000000"/>
              </a:highlight>
              <a:latin typeface="Aptos" panose="020B0004020202020204" pitchFamily="34" charset="0"/>
            </a:rPr>
            <a:t>5% per stock</a:t>
          </a:r>
          <a:endParaRPr lang="fr-FR" sz="1200" b="1" dirty="0">
            <a:solidFill>
              <a:srgbClr val="F5F5F5"/>
            </a:solidFill>
            <a:highlight>
              <a:srgbClr val="000000"/>
            </a:highlight>
            <a:latin typeface="Aptos" panose="020B0004020202020204" pitchFamily="34" charset="0"/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B46527B0-0B24-4087-B225-DB4F5C738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2798E0-F322-4236-8531-A1882BFE40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FB0DE1-D418-4EA9-BDFD-2E5632763663}" type="datetime1">
              <a:rPr lang="fr-FR" smtClean="0"/>
              <a:t>19/11/2025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E5881F-2FD0-41BC-8E76-C691E59E14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CA62C5-8A29-4592-9E3E-4C457F263C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4E85F6F-0FAD-4AD4-850C-7E4CD14D7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74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90BD304-4DB2-4DA8-BE69-274C9984CC7A}" type="datetime1">
              <a:rPr lang="fr-FR" smtClean="0"/>
              <a:t>19/11/2025</a:t>
            </a:fld>
            <a:endParaRPr lang="en-US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E60DC36-8EFA-4378-9855-E019C55AC4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536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907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7579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Quatity</a:t>
            </a:r>
            <a:r>
              <a:rPr lang="en-US" sz="1200" dirty="0"/>
              <a:t> of data is to high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What to do when a stock is performing to well ?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2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972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02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2548037"/>
            <a:ext cx="100584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34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81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2508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2000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27935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105465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121565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74319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237742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3730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509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GeorgeMoschovis/Value-Quality-Momentum-Strategy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bg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300AEF-1595-4419-801B-6E36A33BB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7088" y="372934"/>
            <a:ext cx="7357822" cy="1267398"/>
          </a:xfrm>
        </p:spPr>
        <p:txBody>
          <a:bodyPr wrap="square" lIns="0" tIns="0" rIns="0" bIns="0" rtlCol="0" anchor="t">
            <a:spAutoFit/>
          </a:bodyPr>
          <a:lstStyle/>
          <a:p>
            <a:pPr algn="ctr" rtl="0"/>
            <a:r>
              <a:rPr lang="en-US" sz="4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Value-Quality-Momentum Strategy</a:t>
            </a:r>
            <a:endParaRPr lang="fr-FR" sz="28700" b="1" dirty="0">
              <a:solidFill>
                <a:schemeClr val="accent4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EAB3B2-8126-FDA5-C9D7-3CF110EC3BFB}"/>
              </a:ext>
            </a:extLst>
          </p:cNvPr>
          <p:cNvSpPr txBox="1"/>
          <p:nvPr/>
        </p:nvSpPr>
        <p:spPr>
          <a:xfrm>
            <a:off x="6758609" y="5192154"/>
            <a:ext cx="5241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Hedge Fund Club </a:t>
            </a:r>
            <a:r>
              <a:rPr lang="fr-FR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</a:t>
            </a:r>
            <a:r>
              <a:rPr lang="fr-FR" sz="2400" b="1" dirty="0" err="1">
                <a:latin typeface="Aptos" panose="020B0004020202020204" pitchFamily="34" charset="0"/>
              </a:rPr>
              <a:t>Universität</a:t>
            </a:r>
            <a:r>
              <a:rPr lang="fr-FR" sz="2400" b="1" dirty="0">
                <a:latin typeface="Aptos" panose="020B0004020202020204" pitchFamily="34" charset="0"/>
              </a:rPr>
              <a:t> Mannheim &amp; Prime Capital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BB5967-0A46-EF72-36C7-63C8B3DF0637}"/>
              </a:ext>
            </a:extLst>
          </p:cNvPr>
          <p:cNvSpPr txBox="1"/>
          <p:nvPr/>
        </p:nvSpPr>
        <p:spPr>
          <a:xfrm>
            <a:off x="192112" y="5217667"/>
            <a:ext cx="51087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latin typeface="Aptos" panose="020B0004020202020204" pitchFamily="34" charset="0"/>
              </a:rPr>
              <a:t>George Moschovis &amp; Florent Yigbe</a:t>
            </a:r>
          </a:p>
          <a:p>
            <a:r>
              <a:rPr lang="de-DE" sz="2400" b="1" dirty="0">
                <a:latin typeface="Aptos" panose="020B0004020202020204" pitchFamily="34" charset="0"/>
              </a:rPr>
              <a:t>G_5 Gamma Gurus</a:t>
            </a:r>
            <a:endParaRPr lang="fr-FR" sz="2400" b="1" dirty="0">
              <a:latin typeface="Aptos" panose="020B0004020202020204" pitchFamily="34" charset="0"/>
            </a:endParaRPr>
          </a:p>
        </p:txBody>
      </p:sp>
      <p:pic>
        <p:nvPicPr>
          <p:cNvPr id="8" name="Picture 7" descr="A white silhouette of a deer&#10;&#10;AI-generated content may be incorrect.">
            <a:extLst>
              <a:ext uri="{FF2B5EF4-FFF2-40B4-BE49-F238E27FC236}">
                <a16:creationId xmlns:a16="http://schemas.microsoft.com/office/drawing/2014/main" id="{12430D4B-791D-6761-6596-1B65C176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235743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4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1F878-DDA6-95D7-B618-E811B607189D}"/>
              </a:ext>
            </a:extLst>
          </p:cNvPr>
          <p:cNvSpPr txBox="1"/>
          <p:nvPr/>
        </p:nvSpPr>
        <p:spPr>
          <a:xfrm>
            <a:off x="4893833" y="667434"/>
            <a:ext cx="2404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>
                <a:latin typeface="Aptos" panose="020B0004020202020204" pitchFamily="34" charset="0"/>
              </a:rPr>
              <a:t>SUMMARY</a:t>
            </a:r>
            <a:endParaRPr lang="fr-FR" sz="3600" dirty="0">
              <a:latin typeface="Aptos" panose="020B00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61FCB5-F2BD-F6F4-B908-0E6D040324AE}"/>
              </a:ext>
            </a:extLst>
          </p:cNvPr>
          <p:cNvCxnSpPr/>
          <p:nvPr/>
        </p:nvCxnSpPr>
        <p:spPr>
          <a:xfrm flipV="1">
            <a:off x="800100" y="3536950"/>
            <a:ext cx="10382250" cy="63500"/>
          </a:xfrm>
          <a:prstGeom prst="straightConnector1">
            <a:avLst/>
          </a:prstGeom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2FD5E1-CEFF-2CBC-F8C7-3DDDA0E5396A}"/>
              </a:ext>
            </a:extLst>
          </p:cNvPr>
          <p:cNvCxnSpPr>
            <a:cxnSpLocks/>
          </p:cNvCxnSpPr>
          <p:nvPr/>
        </p:nvCxnSpPr>
        <p:spPr>
          <a:xfrm>
            <a:off x="15748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22C0D4-9E65-7BAD-165E-64822FA868C1}"/>
              </a:ext>
            </a:extLst>
          </p:cNvPr>
          <p:cNvCxnSpPr>
            <a:cxnSpLocks/>
          </p:cNvCxnSpPr>
          <p:nvPr/>
        </p:nvCxnSpPr>
        <p:spPr>
          <a:xfrm>
            <a:off x="31369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337549-5678-FD2B-C728-D6F489AA1DAA}"/>
              </a:ext>
            </a:extLst>
          </p:cNvPr>
          <p:cNvCxnSpPr>
            <a:cxnSpLocks/>
          </p:cNvCxnSpPr>
          <p:nvPr/>
        </p:nvCxnSpPr>
        <p:spPr>
          <a:xfrm>
            <a:off x="46990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001884-0C21-6CAF-ED0D-DDD9DE9114C4}"/>
              </a:ext>
            </a:extLst>
          </p:cNvPr>
          <p:cNvCxnSpPr>
            <a:cxnSpLocks/>
          </p:cNvCxnSpPr>
          <p:nvPr/>
        </p:nvCxnSpPr>
        <p:spPr>
          <a:xfrm>
            <a:off x="62611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0336A1-615A-7A86-685E-1B6EE016ABEB}"/>
              </a:ext>
            </a:extLst>
          </p:cNvPr>
          <p:cNvCxnSpPr>
            <a:cxnSpLocks/>
          </p:cNvCxnSpPr>
          <p:nvPr/>
        </p:nvCxnSpPr>
        <p:spPr>
          <a:xfrm>
            <a:off x="78232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2F8735D-CC12-B074-8CFA-83A0E3A87190}"/>
              </a:ext>
            </a:extLst>
          </p:cNvPr>
          <p:cNvCxnSpPr>
            <a:cxnSpLocks/>
          </p:cNvCxnSpPr>
          <p:nvPr/>
        </p:nvCxnSpPr>
        <p:spPr>
          <a:xfrm>
            <a:off x="93853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332615-491A-B95A-4C03-7FF264B228CA}"/>
              </a:ext>
            </a:extLst>
          </p:cNvPr>
          <p:cNvSpPr txBox="1"/>
          <p:nvPr/>
        </p:nvSpPr>
        <p:spPr>
          <a:xfrm>
            <a:off x="965199" y="2780910"/>
            <a:ext cx="1758947" cy="571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de-DE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Core Idea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B4CF15-56C0-BBA9-83B9-F66F13C99A04}"/>
              </a:ext>
            </a:extLst>
          </p:cNvPr>
          <p:cNvSpPr txBox="1"/>
          <p:nvPr/>
        </p:nvSpPr>
        <p:spPr>
          <a:xfrm>
            <a:off x="2035175" y="3830417"/>
            <a:ext cx="2203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Universe &amp; Data</a:t>
            </a:r>
            <a:endParaRPr lang="fr-F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EC9B68-36F1-315B-CEDB-8A20C2024D90}"/>
              </a:ext>
            </a:extLst>
          </p:cNvPr>
          <p:cNvSpPr txBox="1"/>
          <p:nvPr/>
        </p:nvSpPr>
        <p:spPr>
          <a:xfrm>
            <a:off x="3620658" y="2954119"/>
            <a:ext cx="2546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Design (Alpha)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6A06F0-1632-ECE3-B01F-93C83AA1D099}"/>
              </a:ext>
            </a:extLst>
          </p:cNvPr>
          <p:cNvSpPr txBox="1"/>
          <p:nvPr/>
        </p:nvSpPr>
        <p:spPr>
          <a:xfrm>
            <a:off x="5689601" y="3860930"/>
            <a:ext cx="1555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Portfolio </a:t>
            </a:r>
            <a:endParaRPr lang="de-DE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Construction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D0E1AC-49EC-173D-2CEE-4A656B5E3B7C}"/>
              </a:ext>
            </a:extLst>
          </p:cNvPr>
          <p:cNvSpPr txBox="1"/>
          <p:nvPr/>
        </p:nvSpPr>
        <p:spPr>
          <a:xfrm>
            <a:off x="6752254" y="2942788"/>
            <a:ext cx="2141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Risk Management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9D7D1-AB99-A3BD-C2DE-0256AEBEC929}"/>
              </a:ext>
            </a:extLst>
          </p:cNvPr>
          <p:cNvSpPr txBox="1"/>
          <p:nvPr/>
        </p:nvSpPr>
        <p:spPr>
          <a:xfrm>
            <a:off x="8696327" y="3732947"/>
            <a:ext cx="20700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Backtesting &amp; Performance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610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50C69-E90E-22E2-F184-C748DEEE1F82}"/>
              </a:ext>
            </a:extLst>
          </p:cNvPr>
          <p:cNvSpPr txBox="1"/>
          <p:nvPr/>
        </p:nvSpPr>
        <p:spPr>
          <a:xfrm>
            <a:off x="4926483" y="401879"/>
            <a:ext cx="23390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ptos" panose="020B0004020202020204" pitchFamily="34" charset="0"/>
              </a:rPr>
              <a:t>CORE IDEA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4431C-9B54-2715-7A17-EF4E050E085B}"/>
              </a:ext>
            </a:extLst>
          </p:cNvPr>
          <p:cNvSpPr txBox="1"/>
          <p:nvPr/>
        </p:nvSpPr>
        <p:spPr>
          <a:xfrm>
            <a:off x="1194099" y="2095262"/>
            <a:ext cx="2705548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latin typeface="Aptos" panose="020B0004020202020204" pitchFamily="34" charset="0"/>
              </a:rPr>
              <a:t>What’s the core investment hypothesis ?</a:t>
            </a:r>
          </a:p>
          <a:p>
            <a:endParaRPr lang="en-US" sz="1600" dirty="0">
              <a:latin typeface="Aptos" panose="020B0004020202020204" pitchFamily="34" charset="0"/>
            </a:endParaRPr>
          </a:p>
          <a:p>
            <a:r>
              <a:rPr lang="en-US" sz="16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Identify u</a:t>
            </a:r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ndervalued stocks with strong fundamentals and positive momentum outperform over 1–3 years</a:t>
            </a:r>
            <a:endParaRPr lang="fr-FR" sz="16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6C5AE2-C8C8-ECDF-78E1-D6359EF5F860}"/>
              </a:ext>
            </a:extLst>
          </p:cNvPr>
          <p:cNvSpPr txBox="1"/>
          <p:nvPr/>
        </p:nvSpPr>
        <p:spPr>
          <a:xfrm>
            <a:off x="4448288" y="2095262"/>
            <a:ext cx="330259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/>
              <a:t>Why does this opportunity exist ?</a:t>
            </a:r>
          </a:p>
          <a:p>
            <a:endParaRPr lang="en-US" sz="1600" b="1" dirty="0"/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Investors often overlook high-quality undervalued companies, creating mispricing opportunities</a:t>
            </a:r>
            <a:endParaRPr lang="en-US" sz="1600" dirty="0"/>
          </a:p>
          <a:p>
            <a:r>
              <a:rPr lang="en-US" dirty="0"/>
              <a:t> 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33BF38-6AD9-2550-7C21-634198BF1F29}"/>
              </a:ext>
            </a:extLst>
          </p:cNvPr>
          <p:cNvSpPr txBox="1"/>
          <p:nvPr/>
        </p:nvSpPr>
        <p:spPr>
          <a:xfrm>
            <a:off x="8299527" y="2085062"/>
            <a:ext cx="322729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Asset universe</a:t>
            </a: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 300 S&amp;P 500 companies</a:t>
            </a:r>
            <a:endParaRPr lang="fr-FR" sz="1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B884B-265F-71BD-D027-EF314F31E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827" y="4236887"/>
            <a:ext cx="2600325" cy="1762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BBEB2D-869C-1527-8CF7-B95562E2F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288" y="4302996"/>
            <a:ext cx="3264427" cy="16299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5F552-E9A1-6EC0-FC5F-9E01583DE9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9060" y="4326662"/>
            <a:ext cx="2852681" cy="16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67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>
            <a:extLst>
              <a:ext uri="{FF2B5EF4-FFF2-40B4-BE49-F238E27FC236}">
                <a16:creationId xmlns:a16="http://schemas.microsoft.com/office/drawing/2014/main" id="{4E3F5479-058B-4FA8-92E9-18CAB8CDC5C5}"/>
              </a:ext>
            </a:extLst>
          </p:cNvPr>
          <p:cNvSpPr txBox="1">
            <a:spLocks/>
          </p:cNvSpPr>
          <p:nvPr/>
        </p:nvSpPr>
        <p:spPr>
          <a:xfrm>
            <a:off x="4281641" y="390818"/>
            <a:ext cx="3628718" cy="77559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0"/>
            <a:r>
              <a:rPr lang="de-DE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UNIVERSE &amp; DATA</a:t>
            </a:r>
            <a:br>
              <a:rPr lang="fr-FR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fr-FR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B00FDF25-7676-C722-BC52-28C80146238F}"/>
              </a:ext>
            </a:extLst>
          </p:cNvPr>
          <p:cNvSpPr/>
          <p:nvPr/>
        </p:nvSpPr>
        <p:spPr>
          <a:xfrm>
            <a:off x="1558229" y="2739038"/>
            <a:ext cx="2281695" cy="2281695"/>
          </a:xfrm>
          <a:prstGeom prst="flowChartConnector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1422A617-C801-2FBA-842F-CF555A34DFC1}"/>
              </a:ext>
            </a:extLst>
          </p:cNvPr>
          <p:cNvSpPr/>
          <p:nvPr/>
        </p:nvSpPr>
        <p:spPr>
          <a:xfrm>
            <a:off x="3186938" y="2728613"/>
            <a:ext cx="2281695" cy="2281695"/>
          </a:xfrm>
          <a:prstGeom prst="flowChartConnector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A693B99E-D3E7-36B0-309B-610EA2215425}"/>
              </a:ext>
            </a:extLst>
          </p:cNvPr>
          <p:cNvSpPr/>
          <p:nvPr/>
        </p:nvSpPr>
        <p:spPr>
          <a:xfrm>
            <a:off x="2211213" y="1267111"/>
            <a:ext cx="2281695" cy="2281695"/>
          </a:xfrm>
          <a:prstGeom prst="flowChartConnector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EF3BE-F69F-F88B-9CF5-7AFEB1F02BB5}"/>
              </a:ext>
            </a:extLst>
          </p:cNvPr>
          <p:cNvSpPr txBox="1"/>
          <p:nvPr/>
        </p:nvSpPr>
        <p:spPr>
          <a:xfrm>
            <a:off x="2810336" y="2157889"/>
            <a:ext cx="1237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S&amp;P 500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2E440-4600-986D-BE6E-1F4CCCB30393}"/>
              </a:ext>
            </a:extLst>
          </p:cNvPr>
          <p:cNvSpPr txBox="1"/>
          <p:nvPr/>
        </p:nvSpPr>
        <p:spPr>
          <a:xfrm>
            <a:off x="1908103" y="3517364"/>
            <a:ext cx="1219583" cy="662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Market cap &gt; $5B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962C1-1836-1D18-3882-8BEF23715A83}"/>
              </a:ext>
            </a:extLst>
          </p:cNvPr>
          <p:cNvSpPr txBox="1"/>
          <p:nvPr/>
        </p:nvSpPr>
        <p:spPr>
          <a:xfrm>
            <a:off x="3835010" y="3511743"/>
            <a:ext cx="1743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Average daily volume &gt; 500k</a:t>
            </a:r>
            <a:endParaRPr lang="fr-FR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48811A-28F6-E9AF-E038-787C9937B572}"/>
              </a:ext>
            </a:extLst>
          </p:cNvPr>
          <p:cNvGrpSpPr/>
          <p:nvPr/>
        </p:nvGrpSpPr>
        <p:grpSpPr>
          <a:xfrm>
            <a:off x="1341917" y="2157889"/>
            <a:ext cx="2194560" cy="1158900"/>
            <a:chOff x="489473" y="1038113"/>
            <a:chExt cx="2194560" cy="2533426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D5EBB80-3AE7-5C9C-F471-31F1EDF13766}"/>
                </a:ext>
              </a:extLst>
            </p:cNvPr>
            <p:cNvCxnSpPr/>
            <p:nvPr/>
          </p:nvCxnSpPr>
          <p:spPr>
            <a:xfrm>
              <a:off x="500231" y="3571539"/>
              <a:ext cx="218380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E406BEC-FEAF-5910-25CC-C94AE2A68840}"/>
                </a:ext>
              </a:extLst>
            </p:cNvPr>
            <p:cNvCxnSpPr/>
            <p:nvPr/>
          </p:nvCxnSpPr>
          <p:spPr>
            <a:xfrm flipV="1">
              <a:off x="489473" y="1038113"/>
              <a:ext cx="0" cy="25334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4F1DE0A-BE7D-A29A-BF8E-6198E0AA6245}"/>
              </a:ext>
            </a:extLst>
          </p:cNvPr>
          <p:cNvSpPr txBox="1"/>
          <p:nvPr/>
        </p:nvSpPr>
        <p:spPr>
          <a:xfrm>
            <a:off x="912400" y="1740076"/>
            <a:ext cx="178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Universe</a:t>
            </a:r>
            <a:endParaRPr lang="fr-F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8A4FE-9C13-879C-77B9-91BEEF54BA17}"/>
              </a:ext>
            </a:extLst>
          </p:cNvPr>
          <p:cNvSpPr txBox="1"/>
          <p:nvPr/>
        </p:nvSpPr>
        <p:spPr>
          <a:xfrm>
            <a:off x="7575795" y="1740076"/>
            <a:ext cx="3910405" cy="305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6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(from 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yfinance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Daily/weekly prices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undamentals: P/E, P/B, EV/EBITDA, ROE, Debt/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quity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SzPct val="60000"/>
              <a:buFont typeface="Wingdings" panose="05000000000000000000" pitchFamily="2" charset="2"/>
              <a:buChar char="Ø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Frequency</a:t>
            </a:r>
            <a:b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Quarterly fundamentals, daily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prices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9715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3" grpId="0" animBg="1"/>
      <p:bldP spid="9" grpId="0"/>
      <p:bldP spid="10" grpId="0"/>
      <p:bldP spid="12" grpId="0"/>
      <p:bldP spid="35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F6F16-AC0E-190A-96DD-51FC9C311394}"/>
              </a:ext>
            </a:extLst>
          </p:cNvPr>
          <p:cNvSpPr txBox="1"/>
          <p:nvPr/>
        </p:nvSpPr>
        <p:spPr>
          <a:xfrm>
            <a:off x="965012" y="2240982"/>
            <a:ext cx="7214617" cy="2376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filter: </a:t>
            </a:r>
            <a:r>
              <a:rPr lang="en-US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Only select stocks with 	positive 3 and 12-month price momentum.</a:t>
            </a:r>
            <a:endParaRPr lang="en-US" sz="24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 factors: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P/E, low EV/EBITDA, low P/B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factors: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 ROE, low debt/equity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ABC202-3F61-4B28-908C-56E7D4F14637}"/>
              </a:ext>
            </a:extLst>
          </p:cNvPr>
          <p:cNvSpPr txBox="1"/>
          <p:nvPr/>
        </p:nvSpPr>
        <p:spPr>
          <a:xfrm>
            <a:off x="3863559" y="351963"/>
            <a:ext cx="446488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DISIGN </a:t>
            </a:r>
            <a:r>
              <a:rPr lang="el-GR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(Alpha)</a:t>
            </a:r>
            <a:endParaRPr lang="fr-FR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E521D-76D5-A9D9-9A72-554E04C67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75" y="4714875"/>
            <a:ext cx="2143125" cy="2143125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C67E2DF5-659F-94F7-A322-5E0D8CA74164}"/>
              </a:ext>
            </a:extLst>
          </p:cNvPr>
          <p:cNvSpPr/>
          <p:nvPr/>
        </p:nvSpPr>
        <p:spPr>
          <a:xfrm>
            <a:off x="7712764" y="3220278"/>
            <a:ext cx="297624" cy="1007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2282A7-1AB9-2304-85BD-0B8DCC8007FE}"/>
              </a:ext>
            </a:extLst>
          </p:cNvPr>
          <p:cNvSpPr txBox="1"/>
          <p:nvPr/>
        </p:nvSpPr>
        <p:spPr>
          <a:xfrm>
            <a:off x="8179629" y="3123696"/>
            <a:ext cx="2276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Composite Score to rank the stocks</a:t>
            </a:r>
          </a:p>
        </p:txBody>
      </p:sp>
    </p:spTree>
    <p:extLst>
      <p:ext uri="{BB962C8B-B14F-4D97-AF65-F5344CB8AC3E}">
        <p14:creationId xmlns:p14="http://schemas.microsoft.com/office/powerpoint/2010/main" val="197089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918B75-F012-67A5-8371-15FCAC8D032A}"/>
              </a:ext>
            </a:extLst>
          </p:cNvPr>
          <p:cNvSpPr txBox="1"/>
          <p:nvPr/>
        </p:nvSpPr>
        <p:spPr>
          <a:xfrm>
            <a:off x="270511" y="1855694"/>
            <a:ext cx="5214321" cy="1658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Long </a:t>
            </a:r>
            <a:r>
              <a:rPr lang="el-GR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20 ranked stocks.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5% to each position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Equal weight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B2D307E-D2E3-B0D2-14FD-36DDEE6A1C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7360999"/>
              </p:ext>
            </p:extLst>
          </p:nvPr>
        </p:nvGraphicFramePr>
        <p:xfrm>
          <a:off x="2739838" y="691171"/>
          <a:ext cx="9133242" cy="57598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CBBB1C-BA3A-CF92-4149-57B1F45A709E}"/>
              </a:ext>
            </a:extLst>
          </p:cNvPr>
          <p:cNvSpPr txBox="1"/>
          <p:nvPr/>
        </p:nvSpPr>
        <p:spPr>
          <a:xfrm>
            <a:off x="3382500" y="407005"/>
            <a:ext cx="542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PORTOFOLIO CONSTRUCTION</a:t>
            </a:r>
            <a:endParaRPr lang="fr-FR"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0597-3BAF-73B0-9ADA-6B5D28AE5C61}"/>
              </a:ext>
            </a:extLst>
          </p:cNvPr>
          <p:cNvSpPr txBox="1"/>
          <p:nvPr/>
        </p:nvSpPr>
        <p:spPr>
          <a:xfrm>
            <a:off x="270511" y="4799607"/>
            <a:ext cx="41385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Rebalance</a:t>
            </a:r>
            <a:r>
              <a:rPr lang="el-G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semi-annually</a:t>
            </a:r>
            <a:r>
              <a:rPr lang="de-DE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</a:t>
            </a:r>
            <a:r>
              <a:rPr lang="de-DE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</a:t>
            </a:r>
            <a:r>
              <a:rPr lang="de-DE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s</a:t>
            </a:r>
            <a:r>
              <a:rPr lang="en-US" dirty="0">
                <a:latin typeface="Aptos" panose="020B0004020202020204" pitchFamily="34" charset="0"/>
              </a:rPr>
              <a:t>tock is no more part of the S&amp;P 500 we replace it according to our strategy 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4339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F369F8-A45E-A725-B2B9-BCAFAADCD144}"/>
              </a:ext>
            </a:extLst>
          </p:cNvPr>
          <p:cNvSpPr txBox="1"/>
          <p:nvPr/>
        </p:nvSpPr>
        <p:spPr>
          <a:xfrm>
            <a:off x="4219911" y="458369"/>
            <a:ext cx="375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>
                <a:latin typeface="Aptos" panose="020B0004020202020204" pitchFamily="34" charset="0"/>
              </a:rPr>
              <a:t>Potential </a:t>
            </a:r>
            <a:r>
              <a:rPr lang="de-DE" sz="2800" b="1" dirty="0" err="1">
                <a:latin typeface="Aptos" panose="020B0004020202020204" pitchFamily="34" charset="0"/>
              </a:rPr>
              <a:t>Risks</a:t>
            </a:r>
            <a:r>
              <a:rPr lang="de-DE" sz="2800" b="1" dirty="0">
                <a:latin typeface="Aptos" panose="020B0004020202020204" pitchFamily="34" charset="0"/>
              </a:rPr>
              <a:t>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C19A3E-7532-7CC2-C911-AE6E8C55826D}"/>
              </a:ext>
            </a:extLst>
          </p:cNvPr>
          <p:cNvSpPr txBox="1"/>
          <p:nvPr/>
        </p:nvSpPr>
        <p:spPr>
          <a:xfrm>
            <a:off x="1113824" y="2338840"/>
            <a:ext cx="7214617" cy="2605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Crashes</a:t>
            </a:r>
            <a:endParaRPr lang="fr-FR" dirty="0"/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fr-FR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Sudden</a:t>
            </a:r>
            <a:r>
              <a:rPr lang="fr-FR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Regime</a:t>
            </a:r>
            <a:r>
              <a:rPr lang="fr-FR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Change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Sector Concentration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Survivorship Bias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Limited Hedging</a:t>
            </a:r>
          </a:p>
        </p:txBody>
      </p:sp>
    </p:spTree>
    <p:extLst>
      <p:ext uri="{BB962C8B-B14F-4D97-AF65-F5344CB8AC3E}">
        <p14:creationId xmlns:p14="http://schemas.microsoft.com/office/powerpoint/2010/main" val="9187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E56C4-589C-9FE6-2F51-89E75523B498}"/>
              </a:ext>
            </a:extLst>
          </p:cNvPr>
          <p:cNvSpPr txBox="1"/>
          <p:nvPr/>
        </p:nvSpPr>
        <p:spPr>
          <a:xfrm>
            <a:off x="1147481" y="1999681"/>
            <a:ext cx="6793347" cy="3401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Stop-loss: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deterioration in fundamentals.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2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l-GR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30% </a:t>
            </a:r>
            <a:r>
              <a:rPr lang="el-GR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exposure per sector.</a:t>
            </a:r>
            <a:endParaRPr lang="de-DE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Track: </a:t>
            </a: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drawdown, Sharpe ratio</a:t>
            </a: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Var, CVar</a:t>
            </a:r>
            <a:endParaRPr lang="en-US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265E5-2326-7FB4-FD5E-479745A7781C}"/>
              </a:ext>
            </a:extLst>
          </p:cNvPr>
          <p:cNvSpPr txBox="1"/>
          <p:nvPr/>
        </p:nvSpPr>
        <p:spPr>
          <a:xfrm>
            <a:off x="4251171" y="460473"/>
            <a:ext cx="36896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RISK MANAGEMENT</a:t>
            </a:r>
            <a:endParaRPr lang="fr-FR"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64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E5984-0385-EB90-C885-D4D4805EF6D3}"/>
              </a:ext>
            </a:extLst>
          </p:cNvPr>
          <p:cNvSpPr txBox="1"/>
          <p:nvPr/>
        </p:nvSpPr>
        <p:spPr>
          <a:xfrm>
            <a:off x="1438360" y="1977320"/>
            <a:ext cx="7570867" cy="2903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l-GR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Period:</a:t>
            </a:r>
            <a:r>
              <a:rPr lang="el-GR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2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Last</a:t>
            </a:r>
            <a:r>
              <a:rPr lang="el-GR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20</a:t>
            </a:r>
            <a:r>
              <a:rPr lang="el-GR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2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years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Benchmark: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S&amp;P 500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Metrics: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Annualized return, Annualized Volatility, Sharpe ratio, Max Drawdown, Var, CVar 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Stress test during market crises (2008, 2020).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B7651-B80D-F291-4A1D-1DD563DE679D}"/>
              </a:ext>
            </a:extLst>
          </p:cNvPr>
          <p:cNvSpPr txBox="1"/>
          <p:nvPr/>
        </p:nvSpPr>
        <p:spPr>
          <a:xfrm>
            <a:off x="3182772" y="365604"/>
            <a:ext cx="582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BACKTESTING &amp; PERFORMANCE</a:t>
            </a:r>
            <a:endParaRPr lang="fr-FR"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38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D8832100-A4C3-CB01-F717-F39D65F074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82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307793-7712-5E09-AF30-DE11FC656F79}"/>
              </a:ext>
            </a:extLst>
          </p:cNvPr>
          <p:cNvSpPr txBox="1"/>
          <p:nvPr/>
        </p:nvSpPr>
        <p:spPr>
          <a:xfrm>
            <a:off x="616226" y="2274838"/>
            <a:ext cx="9746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Annual Return:   </a:t>
            </a:r>
            <a:r>
              <a:rPr lang="en-US" sz="2400" b="1" dirty="0">
                <a:latin typeface="Aptos" panose="020B0004020202020204" pitchFamily="34" charset="0"/>
              </a:rPr>
              <a:t>12.67%</a:t>
            </a:r>
            <a:r>
              <a:rPr lang="en-US" sz="2400" dirty="0">
                <a:latin typeface="Aptos" panose="020B0004020202020204" pitchFamily="34" charset="0"/>
              </a:rPr>
              <a:t> | Benchmark: </a:t>
            </a:r>
            <a:r>
              <a:rPr lang="en-US" sz="2400" b="1" dirty="0">
                <a:latin typeface="Aptos" panose="020B0004020202020204" pitchFamily="34" charset="0"/>
              </a:rPr>
              <a:t>8.10%</a:t>
            </a:r>
          </a:p>
          <a:p>
            <a:r>
              <a:rPr lang="en-US" sz="2400" dirty="0">
                <a:latin typeface="Aptos" panose="020B0004020202020204" pitchFamily="34" charset="0"/>
              </a:rPr>
              <a:t>Annual Vol:      </a:t>
            </a:r>
            <a:r>
              <a:rPr lang="en-US" sz="2400" b="1" dirty="0">
                <a:latin typeface="Aptos" panose="020B0004020202020204" pitchFamily="34" charset="0"/>
              </a:rPr>
              <a:t>18.96%</a:t>
            </a:r>
            <a:r>
              <a:rPr lang="en-US" sz="2400" dirty="0">
                <a:latin typeface="Aptos" panose="020B0004020202020204" pitchFamily="34" charset="0"/>
              </a:rPr>
              <a:t> | Benchmark: </a:t>
            </a:r>
            <a:r>
              <a:rPr lang="en-US" sz="2400" b="1" dirty="0">
                <a:latin typeface="Aptos" panose="020B0004020202020204" pitchFamily="34" charset="0"/>
              </a:rPr>
              <a:t>19.20%</a:t>
            </a:r>
          </a:p>
          <a:p>
            <a:r>
              <a:rPr lang="en-US" sz="2400" dirty="0">
                <a:latin typeface="Aptos" panose="020B0004020202020204" pitchFamily="34" charset="0"/>
              </a:rPr>
              <a:t>Sharpe Ratio:    </a:t>
            </a:r>
            <a:r>
              <a:rPr lang="en-US" sz="2400" b="1" dirty="0">
                <a:latin typeface="Aptos" panose="020B0004020202020204" pitchFamily="34" charset="0"/>
              </a:rPr>
              <a:t>0.67</a:t>
            </a:r>
            <a:r>
              <a:rPr lang="en-US" sz="2400" dirty="0">
                <a:latin typeface="Aptos" panose="020B0004020202020204" pitchFamily="34" charset="0"/>
              </a:rPr>
              <a:t> | Benchmark: </a:t>
            </a:r>
            <a:r>
              <a:rPr lang="en-US" sz="2400" b="1" dirty="0">
                <a:latin typeface="Aptos" panose="020B0004020202020204" pitchFamily="34" charset="0"/>
              </a:rPr>
              <a:t>0.42</a:t>
            </a:r>
          </a:p>
          <a:p>
            <a:r>
              <a:rPr lang="en-US" sz="2400" dirty="0">
                <a:latin typeface="Aptos" panose="020B0004020202020204" pitchFamily="34" charset="0"/>
              </a:rPr>
              <a:t>Max Drawdown: </a:t>
            </a:r>
            <a:r>
              <a:rPr lang="en-US" sz="2400" b="1" dirty="0">
                <a:latin typeface="Aptos" panose="020B0004020202020204" pitchFamily="34" charset="0"/>
              </a:rPr>
              <a:t>-41.67% </a:t>
            </a:r>
            <a:r>
              <a:rPr lang="en-US" sz="2400" dirty="0">
                <a:latin typeface="Aptos" panose="020B0004020202020204" pitchFamily="34" charset="0"/>
              </a:rPr>
              <a:t>| Benchmark: </a:t>
            </a:r>
            <a:r>
              <a:rPr lang="en-US" sz="2400" b="1" dirty="0">
                <a:latin typeface="Aptos" panose="020B0004020202020204" pitchFamily="34" charset="0"/>
              </a:rPr>
              <a:t>-56.75%</a:t>
            </a:r>
          </a:p>
          <a:p>
            <a:r>
              <a:rPr lang="en-US" sz="2400" dirty="0">
                <a:latin typeface="Aptos" panose="020B0004020202020204" pitchFamily="34" charset="0"/>
              </a:rPr>
              <a:t>95% </a:t>
            </a:r>
            <a:r>
              <a:rPr lang="en-US" sz="2400" dirty="0" err="1">
                <a:latin typeface="Aptos" panose="020B0004020202020204" pitchFamily="34" charset="0"/>
              </a:rPr>
              <a:t>VaR</a:t>
            </a:r>
            <a:r>
              <a:rPr lang="en-US" sz="2400" dirty="0">
                <a:latin typeface="Aptos" panose="020B0004020202020204" pitchFamily="34" charset="0"/>
              </a:rPr>
              <a:t> (daily): </a:t>
            </a:r>
            <a:r>
              <a:rPr lang="en-US" sz="2400" b="1" dirty="0">
                <a:latin typeface="Aptos" panose="020B0004020202020204" pitchFamily="34" charset="0"/>
              </a:rPr>
              <a:t>-1.84% </a:t>
            </a:r>
            <a:r>
              <a:rPr lang="en-US" sz="2400" dirty="0">
                <a:latin typeface="Aptos" panose="020B0004020202020204" pitchFamily="34" charset="0"/>
              </a:rPr>
              <a:t>| Benchmark: </a:t>
            </a:r>
            <a:r>
              <a:rPr lang="en-US" sz="2400" b="1" dirty="0">
                <a:latin typeface="Aptos" panose="020B0004020202020204" pitchFamily="34" charset="0"/>
              </a:rPr>
              <a:t>-1.81%</a:t>
            </a:r>
          </a:p>
          <a:p>
            <a:r>
              <a:rPr lang="en-US" sz="2400" dirty="0">
                <a:latin typeface="Aptos" panose="020B0004020202020204" pitchFamily="34" charset="0"/>
              </a:rPr>
              <a:t>95% CVaR (Expected daily Shortfall): </a:t>
            </a:r>
            <a:r>
              <a:rPr lang="en-US" sz="2400" b="1" dirty="0">
                <a:latin typeface="Aptos" panose="020B0004020202020204" pitchFamily="34" charset="0"/>
              </a:rPr>
              <a:t>-2.87% </a:t>
            </a:r>
            <a:r>
              <a:rPr lang="en-US" sz="2400" dirty="0">
                <a:latin typeface="Aptos" panose="020B0004020202020204" pitchFamily="34" charset="0"/>
              </a:rPr>
              <a:t>| Benchmark: </a:t>
            </a:r>
            <a:r>
              <a:rPr lang="en-US" sz="2400" b="1" dirty="0">
                <a:latin typeface="Aptos" panose="020B0004020202020204" pitchFamily="34" charset="0"/>
              </a:rPr>
              <a:t>-2.98%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A349-F906-E4F6-645B-5F095661990F}"/>
              </a:ext>
            </a:extLst>
          </p:cNvPr>
          <p:cNvSpPr txBox="1"/>
          <p:nvPr/>
        </p:nvSpPr>
        <p:spPr>
          <a:xfrm>
            <a:off x="4288710" y="304799"/>
            <a:ext cx="3614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Performance Metrics</a:t>
            </a:r>
          </a:p>
        </p:txBody>
      </p:sp>
    </p:spTree>
    <p:extLst>
      <p:ext uri="{BB962C8B-B14F-4D97-AF65-F5344CB8AC3E}">
        <p14:creationId xmlns:p14="http://schemas.microsoft.com/office/powerpoint/2010/main" val="1853070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CBC8D-38A6-5761-7209-FD04A5A3AC10}"/>
              </a:ext>
            </a:extLst>
          </p:cNvPr>
          <p:cNvSpPr txBox="1"/>
          <p:nvPr/>
        </p:nvSpPr>
        <p:spPr>
          <a:xfrm>
            <a:off x="1941443" y="2644170"/>
            <a:ext cx="83091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ptos" panose="020B0004020202020204" pitchFamily="34" charset="0"/>
              </a:rPr>
              <a:t>Stress Testing the Strategy in times of Crises</a:t>
            </a:r>
          </a:p>
        </p:txBody>
      </p:sp>
    </p:spTree>
    <p:extLst>
      <p:ext uri="{BB962C8B-B14F-4D97-AF65-F5344CB8AC3E}">
        <p14:creationId xmlns:p14="http://schemas.microsoft.com/office/powerpoint/2010/main" val="83300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843252F-0DBB-F913-780E-9D1A41496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92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01E86EFA-8DEB-D0B3-3FEF-2F5DB205E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2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2D0A2C-D804-8711-DB7C-B9D4B16C9C84}"/>
              </a:ext>
            </a:extLst>
          </p:cNvPr>
          <p:cNvSpPr txBox="1"/>
          <p:nvPr/>
        </p:nvSpPr>
        <p:spPr>
          <a:xfrm>
            <a:off x="2955235" y="3013501"/>
            <a:ext cx="62815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ptos" panose="020B0004020202020204" pitchFamily="34" charset="0"/>
              </a:rPr>
              <a:t>Is it Realistic?</a:t>
            </a:r>
          </a:p>
        </p:txBody>
      </p:sp>
    </p:spTree>
    <p:extLst>
      <p:ext uri="{BB962C8B-B14F-4D97-AF65-F5344CB8AC3E}">
        <p14:creationId xmlns:p14="http://schemas.microsoft.com/office/powerpoint/2010/main" val="403506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644FD-0B70-CA7D-A674-10387ECE2F91}"/>
              </a:ext>
            </a:extLst>
          </p:cNvPr>
          <p:cNvSpPr txBox="1"/>
          <p:nvPr/>
        </p:nvSpPr>
        <p:spPr>
          <a:xfrm>
            <a:off x="1020418" y="2459504"/>
            <a:ext cx="72754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Aptos" panose="020B0004020202020204" pitchFamily="34" charset="0"/>
              </a:rPr>
              <a:t>Liquidity</a:t>
            </a:r>
            <a:r>
              <a:rPr lang="en-US" sz="2400" dirty="0">
                <a:latin typeface="Aptos" panose="020B0004020202020204" pitchFamily="34" charset="0"/>
              </a:rPr>
              <a:t> (S&amp;P 500 Stocks)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Aptos" panose="020B0004020202020204" pitchFamily="34" charset="0"/>
              </a:rPr>
              <a:t>Academically Proven Anomalies </a:t>
            </a:r>
            <a:r>
              <a:rPr lang="en-US" sz="2400" dirty="0">
                <a:latin typeface="Aptos" panose="020B0004020202020204" pitchFamily="34" charset="0"/>
              </a:rPr>
              <a:t>(Fama &amp; French (1992), </a:t>
            </a:r>
            <a:r>
              <a:rPr lang="en-US" sz="2400" dirty="0" err="1">
                <a:latin typeface="Aptos" panose="020B0004020202020204" pitchFamily="34" charset="0"/>
              </a:rPr>
              <a:t>Asness</a:t>
            </a:r>
            <a:r>
              <a:rPr lang="en-US" sz="2400" dirty="0">
                <a:latin typeface="Aptos" panose="020B0004020202020204" pitchFamily="34" charset="0"/>
              </a:rPr>
              <a:t> et al. (2013) (2019))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Aptos" panose="020B0004020202020204" pitchFamily="34" charset="0"/>
              </a:rPr>
              <a:t>Minimal Trading </a:t>
            </a:r>
            <a:r>
              <a:rPr lang="en-US" sz="2400" b="1" dirty="0" err="1">
                <a:latin typeface="Aptos" panose="020B0004020202020204" pitchFamily="34" charset="0"/>
              </a:rPr>
              <a:t>Commisions</a:t>
            </a:r>
            <a:r>
              <a:rPr lang="en-US" sz="2400" b="1" dirty="0">
                <a:latin typeface="Aptos" panose="020B0004020202020204" pitchFamily="34" charset="0"/>
              </a:rPr>
              <a:t> </a:t>
            </a:r>
            <a:r>
              <a:rPr lang="en-US" sz="2400" dirty="0">
                <a:latin typeface="Aptos" panose="020B0004020202020204" pitchFamily="34" charset="0"/>
              </a:rPr>
              <a:t>(Semi-Annual Rebalancing)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3E21C-5EB4-9BBF-F71C-531C41F0BB3B}"/>
              </a:ext>
            </a:extLst>
          </p:cNvPr>
          <p:cNvSpPr txBox="1"/>
          <p:nvPr/>
        </p:nvSpPr>
        <p:spPr>
          <a:xfrm>
            <a:off x="4983259" y="490331"/>
            <a:ext cx="2225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ptos" panose="020B0004020202020204" pitchFamily="34" charset="0"/>
              </a:rPr>
              <a:t>Real World</a:t>
            </a:r>
          </a:p>
        </p:txBody>
      </p:sp>
    </p:spTree>
    <p:extLst>
      <p:ext uri="{BB962C8B-B14F-4D97-AF65-F5344CB8AC3E}">
        <p14:creationId xmlns:p14="http://schemas.microsoft.com/office/powerpoint/2010/main" val="4062003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07F16F-8618-E488-5A2D-45DE734A8426}"/>
              </a:ext>
            </a:extLst>
          </p:cNvPr>
          <p:cNvSpPr txBox="1"/>
          <p:nvPr/>
        </p:nvSpPr>
        <p:spPr>
          <a:xfrm>
            <a:off x="2757203" y="728870"/>
            <a:ext cx="66775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latin typeface="Aptos" panose="020B0004020202020204" pitchFamily="34" charset="0"/>
              </a:rPr>
              <a:t>Thank you for your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F9E714-8DF4-6854-F113-3B5E20BC9F34}"/>
              </a:ext>
            </a:extLst>
          </p:cNvPr>
          <p:cNvSpPr txBox="1"/>
          <p:nvPr/>
        </p:nvSpPr>
        <p:spPr>
          <a:xfrm>
            <a:off x="463826" y="3244334"/>
            <a:ext cx="46647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All the </a:t>
            </a:r>
            <a:r>
              <a:rPr lang="en-US" b="1" dirty="0">
                <a:latin typeface="Aptos" panose="020B0004020202020204" pitchFamily="34" charset="0"/>
              </a:rPr>
              <a:t>updated</a:t>
            </a:r>
            <a:r>
              <a:rPr lang="en-US" dirty="0">
                <a:latin typeface="Aptos" panose="020B0004020202020204" pitchFamily="34" charset="0"/>
              </a:rPr>
              <a:t> code can be found at: </a:t>
            </a:r>
            <a:r>
              <a:rPr lang="en-US" dirty="0">
                <a:latin typeface="Aptos" panose="020B0004020202020204" pitchFamily="34" charset="0"/>
                <a:hlinkClick r:id="rId2"/>
              </a:rPr>
              <a:t>https://github.com/GeorgeMoschovis/Value-Quality-Momentum-Strategy 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4B18FC-0EDC-0B09-7A43-C26D39B91CEB}"/>
              </a:ext>
            </a:extLst>
          </p:cNvPr>
          <p:cNvSpPr txBox="1"/>
          <p:nvPr/>
        </p:nvSpPr>
        <p:spPr>
          <a:xfrm>
            <a:off x="463826" y="489819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 dirty="0">
                <a:latin typeface="Aptos" panose="020B0004020202020204" pitchFamily="34" charset="0"/>
              </a:rPr>
              <a:t>George Moschovis &amp; Florent </a:t>
            </a:r>
            <a:r>
              <a:rPr lang="de-DE" sz="2400" b="1" dirty="0" err="1">
                <a:latin typeface="Aptos" panose="020B0004020202020204" pitchFamily="34" charset="0"/>
              </a:rPr>
              <a:t>Yigbe</a:t>
            </a:r>
            <a:endParaRPr lang="de-DE" sz="2400" b="1" dirty="0">
              <a:latin typeface="Aptos" panose="020B0004020202020204" pitchFamily="34" charset="0"/>
            </a:endParaRPr>
          </a:p>
          <a:p>
            <a:r>
              <a:rPr lang="de-DE" sz="2400" b="1" dirty="0">
                <a:latin typeface="Aptos" panose="020B0004020202020204" pitchFamily="34" charset="0"/>
              </a:rPr>
              <a:t>G_5 Gamma Gurus</a:t>
            </a:r>
            <a:endParaRPr lang="fr-FR" sz="2400" b="1" dirty="0">
              <a:latin typeface="Aptos" panose="020B0004020202020204" pitchFamily="34" charset="0"/>
            </a:endParaRPr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3F1950A6-868E-740C-F579-923F68BF2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07"/>
          <a:stretch>
            <a:fillRect/>
          </a:stretch>
        </p:blipFill>
        <p:spPr>
          <a:xfrm>
            <a:off x="5428242" y="3035468"/>
            <a:ext cx="1335516" cy="1341061"/>
          </a:xfrm>
          <a:prstGeom prst="rect">
            <a:avLst/>
          </a:prstGeom>
        </p:spPr>
      </p:pic>
      <p:pic>
        <p:nvPicPr>
          <p:cNvPr id="12" name="Picture 11" descr="A white silhouette of a deer&#10;&#10;AI-generated content may be incorrect.">
            <a:extLst>
              <a:ext uri="{FF2B5EF4-FFF2-40B4-BE49-F238E27FC236}">
                <a16:creationId xmlns:a16="http://schemas.microsoft.com/office/drawing/2014/main" id="{D5DF4C93-10FE-EF53-FA29-72632E3BF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8242" y="4820866"/>
            <a:ext cx="1335516" cy="133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87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431</TotalTime>
  <Words>497</Words>
  <Application>Microsoft Office PowerPoint</Application>
  <PresentationFormat>Widescreen</PresentationFormat>
  <Paragraphs>86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Symbol</vt:lpstr>
      <vt:lpstr>Wingdings</vt:lpstr>
      <vt:lpstr>Retrospect</vt:lpstr>
      <vt:lpstr>Value-Quality-Momentum Strategy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Kofi Yigbe</dc:creator>
  <cp:lastModifiedBy>GEORGIOS MOSCHOVIS</cp:lastModifiedBy>
  <cp:revision>18</cp:revision>
  <dcterms:created xsi:type="dcterms:W3CDTF">2025-11-16T21:40:45Z</dcterms:created>
  <dcterms:modified xsi:type="dcterms:W3CDTF">2025-11-19T23:37:31Z</dcterms:modified>
</cp:coreProperties>
</file>