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9" r:id="rId3"/>
    <p:sldId id="290" r:id="rId4"/>
    <p:sldId id="276" r:id="rId5"/>
    <p:sldId id="291" r:id="rId6"/>
    <p:sldId id="292" r:id="rId7"/>
    <p:sldId id="293" r:id="rId8"/>
    <p:sldId id="294" r:id="rId9"/>
    <p:sldId id="298" r:id="rId10"/>
    <p:sldId id="295" r:id="rId11"/>
    <p:sldId id="296" r:id="rId12"/>
    <p:sldId id="29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71157" autoAdjust="0"/>
  </p:normalViewPr>
  <p:slideViewPr>
    <p:cSldViewPr snapToGrid="0" showGuides="1">
      <p:cViewPr varScale="1">
        <p:scale>
          <a:sx n="58" d="100"/>
          <a:sy n="58" d="100"/>
        </p:scale>
        <p:origin x="1555" y="62"/>
      </p:cViewPr>
      <p:guideLst>
        <p:guide orient="horz" pos="2319"/>
        <p:guide pos="3864"/>
        <p:guide pos="7512"/>
        <p:guide pos="143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676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6785789755707778"/>
          <c:y val="0.11422623330157311"/>
          <c:w val="0.48947799696975069"/>
          <c:h val="0.77615583392825893"/>
        </c:manualLayout>
      </c:layout>
      <c:doughnutChart>
        <c:varyColors val="1"/>
        <c:ser>
          <c:idx val="0"/>
          <c:order val="0"/>
          <c:tx>
            <c:strRef>
              <c:f>Sheet1!$M$4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B8-423C-9E9E-B2F0637332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B8-423C-9E9E-B2F0637332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6B8-423C-9E9E-B2F0637332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6B8-423C-9E9E-B2F0637332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6B8-423C-9E9E-B2F06373322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6B8-423C-9E9E-B2F0637332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6B8-423C-9E9E-B2F06373322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6B8-423C-9E9E-B2F06373322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66B8-423C-9E9E-B2F06373322F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66B8-423C-9E9E-B2F06373322F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66B8-423C-9E9E-B2F06373322F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66B8-423C-9E9E-B2F06373322F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66B8-423C-9E9E-B2F06373322F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66B8-423C-9E9E-B2F06373322F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66B8-423C-9E9E-B2F06373322F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66B8-423C-9E9E-B2F06373322F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66B8-423C-9E9E-B2F06373322F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66B8-423C-9E9E-B2F06373322F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66B8-423C-9E9E-B2F06373322F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66B8-423C-9E9E-B2F06373322F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66B8-423C-9E9E-B2F06373322F}"/>
              </c:ext>
            </c:extLst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B-66B8-423C-9E9E-B2F06373322F}"/>
              </c:ext>
            </c:extLst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D-66B8-423C-9E9E-B2F06373322F}"/>
              </c:ext>
            </c:extLst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F-66B8-423C-9E9E-B2F06373322F}"/>
              </c:ext>
            </c:extLst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66B8-423C-9E9E-B2F06373322F}"/>
              </c:ext>
            </c:extLst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3-66B8-423C-9E9E-B2F06373322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Sheet1!$L$5:$L$30</c:f>
              <c:strCache>
                <c:ptCount val="26"/>
                <c:pt idx="0">
                  <c:v>Technology</c:v>
                </c:pt>
                <c:pt idx="1">
                  <c:v>Stock 1</c:v>
                </c:pt>
                <c:pt idx="2">
                  <c:v>Stock 2</c:v>
                </c:pt>
                <c:pt idx="3">
                  <c:v>Stock 3</c:v>
                </c:pt>
                <c:pt idx="4">
                  <c:v>Stock 4</c:v>
                </c:pt>
                <c:pt idx="5">
                  <c:v>Stock 5</c:v>
                </c:pt>
                <c:pt idx="6">
                  <c:v>Health Care</c:v>
                </c:pt>
                <c:pt idx="7">
                  <c:v>Stock 6</c:v>
                </c:pt>
                <c:pt idx="8">
                  <c:v>Stock 7</c:v>
                </c:pt>
                <c:pt idx="9">
                  <c:v>Stock 8</c:v>
                </c:pt>
                <c:pt idx="10">
                  <c:v>Stock 9</c:v>
                </c:pt>
                <c:pt idx="11">
                  <c:v>Financials</c:v>
                </c:pt>
                <c:pt idx="12">
                  <c:v>Stock 10</c:v>
                </c:pt>
                <c:pt idx="13">
                  <c:v>Stock 11</c:v>
                </c:pt>
                <c:pt idx="14">
                  <c:v>Stock 12</c:v>
                </c:pt>
                <c:pt idx="15">
                  <c:v>Energy</c:v>
                </c:pt>
                <c:pt idx="16">
                  <c:v>Stock 13</c:v>
                </c:pt>
                <c:pt idx="17">
                  <c:v>Stock 14</c:v>
                </c:pt>
                <c:pt idx="18">
                  <c:v>Consumer Discretionary</c:v>
                </c:pt>
                <c:pt idx="19">
                  <c:v>Stock 15</c:v>
                </c:pt>
                <c:pt idx="20">
                  <c:v>Stock 16</c:v>
                </c:pt>
                <c:pt idx="21">
                  <c:v>Stock 17</c:v>
                </c:pt>
                <c:pt idx="22">
                  <c:v>Stock 18</c:v>
                </c:pt>
                <c:pt idx="23">
                  <c:v>Real Estate</c:v>
                </c:pt>
                <c:pt idx="24">
                  <c:v>Stock 19</c:v>
                </c:pt>
                <c:pt idx="25">
                  <c:v>Stock 20</c:v>
                </c:pt>
              </c:strCache>
            </c:strRef>
          </c:cat>
          <c:val>
            <c:numRef>
              <c:f>Sheet1!$M$5:$M$30</c:f>
              <c:numCache>
                <c:formatCode>General</c:formatCode>
                <c:ptCount val="26"/>
                <c:pt idx="0" formatCode="0%">
                  <c:v>0.25</c:v>
                </c:pt>
                <c:pt idx="6" formatCode="0%">
                  <c:v>0.2</c:v>
                </c:pt>
                <c:pt idx="11" formatCode="0%">
                  <c:v>0.15000000000000002</c:v>
                </c:pt>
                <c:pt idx="15" formatCode="0%">
                  <c:v>0.1</c:v>
                </c:pt>
                <c:pt idx="18" formatCode="0%">
                  <c:v>0.2</c:v>
                </c:pt>
                <c:pt idx="23" formatCode="0%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4-66B8-423C-9E9E-B2F06373322F}"/>
            </c:ext>
          </c:extLst>
        </c:ser>
        <c:ser>
          <c:idx val="1"/>
          <c:order val="1"/>
          <c:tx>
            <c:strRef>
              <c:f>Sheet1!$N$4</c:f>
              <c:strCache>
                <c:ptCount val="1"/>
                <c:pt idx="0">
                  <c:v>Position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6-66B8-423C-9E9E-B2F0637332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8-66B8-423C-9E9E-B2F0637332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A-66B8-423C-9E9E-B2F0637332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C-66B8-423C-9E9E-B2F0637332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E-66B8-423C-9E9E-B2F06373322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0-66B8-423C-9E9E-B2F0637332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2-66B8-423C-9E9E-B2F06373322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4-66B8-423C-9E9E-B2F06373322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6-66B8-423C-9E9E-B2F06373322F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8-66B8-423C-9E9E-B2F06373322F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A-66B8-423C-9E9E-B2F06373322F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C-66B8-423C-9E9E-B2F06373322F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E-66B8-423C-9E9E-B2F06373322F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0-66B8-423C-9E9E-B2F06373322F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2-66B8-423C-9E9E-B2F06373322F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4-66B8-423C-9E9E-B2F06373322F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6-66B8-423C-9E9E-B2F06373322F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8-66B8-423C-9E9E-B2F06373322F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A-66B8-423C-9E9E-B2F06373322F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C-66B8-423C-9E9E-B2F06373322F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E-66B8-423C-9E9E-B2F06373322F}"/>
              </c:ext>
            </c:extLst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0-66B8-423C-9E9E-B2F06373322F}"/>
              </c:ext>
            </c:extLst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2-66B8-423C-9E9E-B2F06373322F}"/>
              </c:ext>
            </c:extLst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4-66B8-423C-9E9E-B2F06373322F}"/>
              </c:ext>
            </c:extLst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6-66B8-423C-9E9E-B2F06373322F}"/>
              </c:ext>
            </c:extLst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8-66B8-423C-9E9E-B2F06373322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Sheet1!$L$5:$L$30</c:f>
              <c:strCache>
                <c:ptCount val="26"/>
                <c:pt idx="0">
                  <c:v>Technology</c:v>
                </c:pt>
                <c:pt idx="1">
                  <c:v>Stock 1</c:v>
                </c:pt>
                <c:pt idx="2">
                  <c:v>Stock 2</c:v>
                </c:pt>
                <c:pt idx="3">
                  <c:v>Stock 3</c:v>
                </c:pt>
                <c:pt idx="4">
                  <c:v>Stock 4</c:v>
                </c:pt>
                <c:pt idx="5">
                  <c:v>Stock 5</c:v>
                </c:pt>
                <c:pt idx="6">
                  <c:v>Health Care</c:v>
                </c:pt>
                <c:pt idx="7">
                  <c:v>Stock 6</c:v>
                </c:pt>
                <c:pt idx="8">
                  <c:v>Stock 7</c:v>
                </c:pt>
                <c:pt idx="9">
                  <c:v>Stock 8</c:v>
                </c:pt>
                <c:pt idx="10">
                  <c:v>Stock 9</c:v>
                </c:pt>
                <c:pt idx="11">
                  <c:v>Financials</c:v>
                </c:pt>
                <c:pt idx="12">
                  <c:v>Stock 10</c:v>
                </c:pt>
                <c:pt idx="13">
                  <c:v>Stock 11</c:v>
                </c:pt>
                <c:pt idx="14">
                  <c:v>Stock 12</c:v>
                </c:pt>
                <c:pt idx="15">
                  <c:v>Energy</c:v>
                </c:pt>
                <c:pt idx="16">
                  <c:v>Stock 13</c:v>
                </c:pt>
                <c:pt idx="17">
                  <c:v>Stock 14</c:v>
                </c:pt>
                <c:pt idx="18">
                  <c:v>Consumer Discretionary</c:v>
                </c:pt>
                <c:pt idx="19">
                  <c:v>Stock 15</c:v>
                </c:pt>
                <c:pt idx="20">
                  <c:v>Stock 16</c:v>
                </c:pt>
                <c:pt idx="21">
                  <c:v>Stock 17</c:v>
                </c:pt>
                <c:pt idx="22">
                  <c:v>Stock 18</c:v>
                </c:pt>
                <c:pt idx="23">
                  <c:v>Real Estate</c:v>
                </c:pt>
                <c:pt idx="24">
                  <c:v>Stock 19</c:v>
                </c:pt>
                <c:pt idx="25">
                  <c:v>Stock 20</c:v>
                </c:pt>
              </c:strCache>
            </c:strRef>
          </c:cat>
          <c:val>
            <c:numRef>
              <c:f>Sheet1!$N$5:$N$30</c:f>
              <c:numCache>
                <c:formatCode>0%</c:formatCode>
                <c:ptCount val="26"/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7">
                  <c:v>0.05</c:v>
                </c:pt>
                <c:pt idx="8">
                  <c:v>0.05</c:v>
                </c:pt>
                <c:pt idx="9">
                  <c:v>0.05</c:v>
                </c:pt>
                <c:pt idx="10">
                  <c:v>0.05</c:v>
                </c:pt>
                <c:pt idx="12">
                  <c:v>0.05</c:v>
                </c:pt>
                <c:pt idx="13">
                  <c:v>0.05</c:v>
                </c:pt>
                <c:pt idx="14">
                  <c:v>0.05</c:v>
                </c:pt>
                <c:pt idx="16">
                  <c:v>0.05</c:v>
                </c:pt>
                <c:pt idx="17">
                  <c:v>0.05</c:v>
                </c:pt>
                <c:pt idx="19">
                  <c:v>0.05</c:v>
                </c:pt>
                <c:pt idx="20">
                  <c:v>0.05</c:v>
                </c:pt>
                <c:pt idx="21">
                  <c:v>0.05</c:v>
                </c:pt>
                <c:pt idx="22">
                  <c:v>0.05</c:v>
                </c:pt>
                <c:pt idx="24">
                  <c:v>0.05</c:v>
                </c:pt>
                <c:pt idx="2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69-66B8-423C-9E9E-B2F06373322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0.7966</cdr:x>
      <cdr:y>0.12467</cdr:y>
    </cdr:from>
    <cdr:to>
      <cdr:x>0.84489</cdr:x>
      <cdr:y>0.50381</cdr:y>
    </cdr:to>
    <cdr:sp macro="" textlink="">
      <cdr:nvSpPr>
        <cdr:cNvPr id="2" name="Right Brace 1">
          <a:extLst xmlns:a="http://schemas.openxmlformats.org/drawingml/2006/main">
            <a:ext uri="{FF2B5EF4-FFF2-40B4-BE49-F238E27FC236}">
              <a16:creationId xmlns:a16="http://schemas.microsoft.com/office/drawing/2014/main" id="{B03AE7C7-2550-8B98-67ED-4BBFC7928A7F}"/>
            </a:ext>
          </a:extLst>
        </cdr:cNvPr>
        <cdr:cNvSpPr/>
      </cdr:nvSpPr>
      <cdr:spPr>
        <a:xfrm xmlns:a="http://schemas.openxmlformats.org/drawingml/2006/main">
          <a:off x="7275531" y="718081"/>
          <a:ext cx="441064" cy="2183802"/>
        </a:xfrm>
        <a:prstGeom xmlns:a="http://schemas.openxmlformats.org/drawingml/2006/main" prst="rightBrac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/>
        </a:p>
      </cdr:txBody>
    </cdr:sp>
  </cdr:relSizeAnchor>
  <cdr:relSizeAnchor xmlns:cdr="http://schemas.openxmlformats.org/drawingml/2006/chartDrawing">
    <cdr:from>
      <cdr:x>0.57132</cdr:x>
      <cdr:y>0.11841</cdr:y>
    </cdr:from>
    <cdr:to>
      <cdr:x>0.79167</cdr:x>
      <cdr:y>0.1227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6F6E8E9C-17BF-F716-7E4D-E35E654396B6}"/>
            </a:ext>
          </a:extLst>
        </cdr:cNvPr>
        <cdr:cNvCxnSpPr/>
      </cdr:nvCxnSpPr>
      <cdr:spPr>
        <a:xfrm xmlns:a="http://schemas.openxmlformats.org/drawingml/2006/main" flipH="1" flipV="1">
          <a:off x="5218005" y="682047"/>
          <a:ext cx="2012494" cy="24679"/>
        </a:xfrm>
        <a:prstGeom xmlns:a="http://schemas.openxmlformats.org/drawingml/2006/main" prst="line">
          <a:avLst/>
        </a:prstGeom>
        <a:ln xmlns:a="http://schemas.openxmlformats.org/drawingml/2006/main" w="9525" cap="flat" cmpd="sng" algn="ctr">
          <a:solidFill>
            <a:schemeClr val="dk1"/>
          </a:solidFill>
          <a:prstDash val="dash"/>
          <a:round/>
          <a:headEnd type="none" w="med" len="med"/>
          <a:tailEnd type="none" w="med" len="med"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0.76067</cdr:x>
      <cdr:y>0.50365</cdr:y>
    </cdr:from>
    <cdr:to>
      <cdr:x>0.79344</cdr:x>
      <cdr:y>0.50428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5D392767-4797-3EBB-DC5E-D98BDC4F3318}"/>
            </a:ext>
          </a:extLst>
        </cdr:cNvPr>
        <cdr:cNvCxnSpPr/>
      </cdr:nvCxnSpPr>
      <cdr:spPr>
        <a:xfrm xmlns:a="http://schemas.openxmlformats.org/drawingml/2006/main" flipH="1" flipV="1">
          <a:off x="6947423" y="2900922"/>
          <a:ext cx="299213" cy="3669"/>
        </a:xfrm>
        <a:prstGeom xmlns:a="http://schemas.openxmlformats.org/drawingml/2006/main" prst="line">
          <a:avLst/>
        </a:prstGeom>
        <a:ln xmlns:a="http://schemas.openxmlformats.org/drawingml/2006/main" w="9525" cap="flat" cmpd="sng" algn="ctr">
          <a:solidFill>
            <a:schemeClr val="dk1"/>
          </a:solidFill>
          <a:prstDash val="dash"/>
          <a:round/>
          <a:headEnd type="none" w="med" len="med"/>
          <a:tailEnd type="none" w="med" len="med"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0.85078</cdr:x>
      <cdr:y>0.26013</cdr:y>
    </cdr:from>
    <cdr:to>
      <cdr:x>1</cdr:x>
      <cdr:y>0.41702</cdr:y>
    </cdr:to>
    <cdr:sp macro="" textlink="">
      <cdr:nvSpPr>
        <cdr:cNvPr id="11" name="TextBox 10">
          <a:extLst xmlns:a="http://schemas.openxmlformats.org/drawingml/2006/main">
            <a:ext uri="{FF2B5EF4-FFF2-40B4-BE49-F238E27FC236}">
              <a16:creationId xmlns:a16="http://schemas.microsoft.com/office/drawing/2014/main" id="{0E82B565-EFB6-CCDF-E434-D1D37568F4E8}"/>
            </a:ext>
          </a:extLst>
        </cdr:cNvPr>
        <cdr:cNvSpPr txBox="1"/>
      </cdr:nvSpPr>
      <cdr:spPr>
        <a:xfrm xmlns:a="http://schemas.openxmlformats.org/drawingml/2006/main">
          <a:off x="7770380" y="1498320"/>
          <a:ext cx="1362862" cy="90365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de-DE" sz="1200" b="1" dirty="0">
              <a:solidFill>
                <a:srgbClr val="F5F5F5"/>
              </a:solidFill>
              <a:highlight>
                <a:srgbClr val="000000"/>
              </a:highlight>
              <a:latin typeface="Aptos" panose="020B0004020202020204" pitchFamily="34" charset="0"/>
            </a:rPr>
            <a:t>5% per stock</a:t>
          </a:r>
          <a:endParaRPr lang="fr-FR" sz="1200" b="1" dirty="0">
            <a:solidFill>
              <a:srgbClr val="F5F5F5"/>
            </a:solidFill>
            <a:highlight>
              <a:srgbClr val="000000"/>
            </a:highlight>
            <a:latin typeface="Aptos" panose="020B0004020202020204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19/11/2025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19/11/2025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Quatity</a:t>
            </a:r>
            <a:r>
              <a:rPr lang="en-US" sz="1200" dirty="0"/>
              <a:t> of data is to high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What to do when a stock is performing to well ?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32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972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02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2548037"/>
            <a:ext cx="1005840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3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8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2508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2000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2793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0546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2156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7431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3774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3730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78CE1DC9-D956-40C2-BAC4-4037E3AB19CC}" type="datetime1">
              <a:rPr lang="fr-FR" noProof="0" smtClean="0"/>
              <a:t>19/11/2025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509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088" y="372934"/>
            <a:ext cx="7357822" cy="1267398"/>
          </a:xfrm>
        </p:spPr>
        <p:txBody>
          <a:bodyPr wrap="square" lIns="0" tIns="0" rIns="0" bIns="0" rtlCol="0" anchor="t">
            <a:spAutoFit/>
          </a:bodyPr>
          <a:lstStyle/>
          <a:p>
            <a:pPr algn="ctr" rtl="0"/>
            <a:r>
              <a:rPr lang="en-US" sz="4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Value-Quality-Momentum Strategy</a:t>
            </a:r>
            <a:endParaRPr lang="fr-FR" sz="28700" b="1" dirty="0">
              <a:solidFill>
                <a:schemeClr val="accent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AB3B2-8126-FDA5-C9D7-3CF110EC3BFB}"/>
              </a:ext>
            </a:extLst>
          </p:cNvPr>
          <p:cNvSpPr txBox="1"/>
          <p:nvPr/>
        </p:nvSpPr>
        <p:spPr>
          <a:xfrm>
            <a:off x="6758609" y="5192154"/>
            <a:ext cx="5241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Hedge Fund Club </a:t>
            </a:r>
            <a:r>
              <a:rPr lang="fr-FR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fr-FR" sz="2400" b="1" dirty="0" err="1">
                <a:latin typeface="Aptos" panose="020B0004020202020204" pitchFamily="34" charset="0"/>
              </a:rPr>
              <a:t>Universität</a:t>
            </a:r>
            <a:r>
              <a:rPr lang="fr-FR" sz="2400" b="1" dirty="0">
                <a:latin typeface="Aptos" panose="020B0004020202020204" pitchFamily="34" charset="0"/>
              </a:rPr>
              <a:t> Mannheim &amp; Prime Capital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B5967-0A46-EF72-36C7-63C8B3DF0637}"/>
              </a:ext>
            </a:extLst>
          </p:cNvPr>
          <p:cNvSpPr txBox="1"/>
          <p:nvPr/>
        </p:nvSpPr>
        <p:spPr>
          <a:xfrm>
            <a:off x="192112" y="5217667"/>
            <a:ext cx="5108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latin typeface="Aptos" panose="020B0004020202020204" pitchFamily="34" charset="0"/>
              </a:rPr>
              <a:t>George Moschovis &amp; Florent Yigbe</a:t>
            </a:r>
          </a:p>
          <a:p>
            <a:r>
              <a:rPr lang="de-DE" sz="2400" b="1" dirty="0">
                <a:latin typeface="Aptos" panose="020B0004020202020204" pitchFamily="34" charset="0"/>
              </a:rPr>
              <a:t>G_5 Gamma Gurus</a:t>
            </a:r>
            <a:endParaRPr lang="fr-FR" sz="2400" b="1" dirty="0">
              <a:latin typeface="Aptos" panose="020B0004020202020204" pitchFamily="34" charset="0"/>
            </a:endParaRPr>
          </a:p>
        </p:txBody>
      </p:sp>
      <p:pic>
        <p:nvPicPr>
          <p:cNvPr id="8" name="Picture 7" descr="A white silhouette of a deer&#10;&#10;AI-generated content may be incorrect.">
            <a:extLst>
              <a:ext uri="{FF2B5EF4-FFF2-40B4-BE49-F238E27FC236}">
                <a16:creationId xmlns:a16="http://schemas.microsoft.com/office/drawing/2014/main" id="{12430D4B-791D-6761-6596-1B65C1767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1F878-DDA6-95D7-B618-E811B607189D}"/>
              </a:ext>
            </a:extLst>
          </p:cNvPr>
          <p:cNvSpPr txBox="1"/>
          <p:nvPr/>
        </p:nvSpPr>
        <p:spPr>
          <a:xfrm>
            <a:off x="4893833" y="667434"/>
            <a:ext cx="2404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Aptos" panose="020B0004020202020204" pitchFamily="34" charset="0"/>
              </a:rPr>
              <a:t>SUMMARY</a:t>
            </a:r>
            <a:endParaRPr lang="fr-FR" sz="3600" dirty="0">
              <a:latin typeface="Aptos" panose="020B00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C61FCB5-F2BD-F6F4-B908-0E6D040324AE}"/>
              </a:ext>
            </a:extLst>
          </p:cNvPr>
          <p:cNvCxnSpPr/>
          <p:nvPr/>
        </p:nvCxnSpPr>
        <p:spPr>
          <a:xfrm flipV="1">
            <a:off x="800100" y="3536950"/>
            <a:ext cx="10382250" cy="6350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2FD5E1-CEFF-2CBC-F8C7-3DDDA0E5396A}"/>
              </a:ext>
            </a:extLst>
          </p:cNvPr>
          <p:cNvCxnSpPr>
            <a:cxnSpLocks/>
          </p:cNvCxnSpPr>
          <p:nvPr/>
        </p:nvCxnSpPr>
        <p:spPr>
          <a:xfrm>
            <a:off x="1574800" y="3460750"/>
            <a:ext cx="0" cy="2159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22C0D4-9E65-7BAD-165E-64822FA868C1}"/>
              </a:ext>
            </a:extLst>
          </p:cNvPr>
          <p:cNvCxnSpPr>
            <a:cxnSpLocks/>
          </p:cNvCxnSpPr>
          <p:nvPr/>
        </p:nvCxnSpPr>
        <p:spPr>
          <a:xfrm>
            <a:off x="3136900" y="3460750"/>
            <a:ext cx="0" cy="2159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337549-5678-FD2B-C728-D6F489AA1DAA}"/>
              </a:ext>
            </a:extLst>
          </p:cNvPr>
          <p:cNvCxnSpPr>
            <a:cxnSpLocks/>
          </p:cNvCxnSpPr>
          <p:nvPr/>
        </p:nvCxnSpPr>
        <p:spPr>
          <a:xfrm>
            <a:off x="4699000" y="3460750"/>
            <a:ext cx="0" cy="2159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001884-0C21-6CAF-ED0D-DDD9DE9114C4}"/>
              </a:ext>
            </a:extLst>
          </p:cNvPr>
          <p:cNvCxnSpPr>
            <a:cxnSpLocks/>
          </p:cNvCxnSpPr>
          <p:nvPr/>
        </p:nvCxnSpPr>
        <p:spPr>
          <a:xfrm>
            <a:off x="6261100" y="3460750"/>
            <a:ext cx="0" cy="2159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0336A1-615A-7A86-685E-1B6EE016ABEB}"/>
              </a:ext>
            </a:extLst>
          </p:cNvPr>
          <p:cNvCxnSpPr>
            <a:cxnSpLocks/>
          </p:cNvCxnSpPr>
          <p:nvPr/>
        </p:nvCxnSpPr>
        <p:spPr>
          <a:xfrm>
            <a:off x="7823200" y="3460750"/>
            <a:ext cx="0" cy="2159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F8735D-CC12-B074-8CFA-83A0E3A87190}"/>
              </a:ext>
            </a:extLst>
          </p:cNvPr>
          <p:cNvCxnSpPr>
            <a:cxnSpLocks/>
          </p:cNvCxnSpPr>
          <p:nvPr/>
        </p:nvCxnSpPr>
        <p:spPr>
          <a:xfrm>
            <a:off x="9385300" y="3460750"/>
            <a:ext cx="0" cy="2159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332615-491A-B95A-4C03-7FF264B228CA}"/>
              </a:ext>
            </a:extLst>
          </p:cNvPr>
          <p:cNvSpPr txBox="1"/>
          <p:nvPr/>
        </p:nvSpPr>
        <p:spPr>
          <a:xfrm>
            <a:off x="965199" y="2780910"/>
            <a:ext cx="1758947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Core Idea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B4CF15-56C0-BBA9-83B9-F66F13C99A04}"/>
              </a:ext>
            </a:extLst>
          </p:cNvPr>
          <p:cNvSpPr txBox="1"/>
          <p:nvPr/>
        </p:nvSpPr>
        <p:spPr>
          <a:xfrm>
            <a:off x="2035175" y="3830417"/>
            <a:ext cx="220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Universe &amp; Data</a:t>
            </a:r>
            <a:endParaRPr lang="fr-F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EC9B68-36F1-315B-CEDB-8A20C2024D90}"/>
              </a:ext>
            </a:extLst>
          </p:cNvPr>
          <p:cNvSpPr txBox="1"/>
          <p:nvPr/>
        </p:nvSpPr>
        <p:spPr>
          <a:xfrm>
            <a:off x="3620658" y="2954119"/>
            <a:ext cx="2546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Design (Alpha)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A06F0-1632-ECE3-B01F-93C83AA1D099}"/>
              </a:ext>
            </a:extLst>
          </p:cNvPr>
          <p:cNvSpPr txBox="1"/>
          <p:nvPr/>
        </p:nvSpPr>
        <p:spPr>
          <a:xfrm>
            <a:off x="5689601" y="3860930"/>
            <a:ext cx="1555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Portfolio 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Construction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D0E1AC-49EC-173D-2CEE-4A656B5E3B7C}"/>
              </a:ext>
            </a:extLst>
          </p:cNvPr>
          <p:cNvSpPr txBox="1"/>
          <p:nvPr/>
        </p:nvSpPr>
        <p:spPr>
          <a:xfrm>
            <a:off x="6752254" y="2942788"/>
            <a:ext cx="2141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 Management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39D7D1-AB99-A3BD-C2DE-0256AEBEC929}"/>
              </a:ext>
            </a:extLst>
          </p:cNvPr>
          <p:cNvSpPr txBox="1"/>
          <p:nvPr/>
        </p:nvSpPr>
        <p:spPr>
          <a:xfrm>
            <a:off x="8696327" y="3732947"/>
            <a:ext cx="2070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Backtesting &amp; Performance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610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50C69-E90E-22E2-F184-C748DEEE1F82}"/>
              </a:ext>
            </a:extLst>
          </p:cNvPr>
          <p:cNvSpPr txBox="1"/>
          <p:nvPr/>
        </p:nvSpPr>
        <p:spPr>
          <a:xfrm>
            <a:off x="4926483" y="401879"/>
            <a:ext cx="233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ptos" panose="020B0004020202020204" pitchFamily="34" charset="0"/>
              </a:rPr>
              <a:t>CORE IDEA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4431C-9B54-2715-7A17-EF4E050E085B}"/>
              </a:ext>
            </a:extLst>
          </p:cNvPr>
          <p:cNvSpPr txBox="1"/>
          <p:nvPr/>
        </p:nvSpPr>
        <p:spPr>
          <a:xfrm>
            <a:off x="1194099" y="2095262"/>
            <a:ext cx="270554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What’s the core investment hypothesis ?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u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ndervalued stocks with strong fundamentals and positive momentum outperform over 1–3 years</a:t>
            </a:r>
            <a:endParaRPr lang="fr-FR" sz="1600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6C5AE2-C8C8-ECDF-78E1-D6359EF5F860}"/>
              </a:ext>
            </a:extLst>
          </p:cNvPr>
          <p:cNvSpPr txBox="1"/>
          <p:nvPr/>
        </p:nvSpPr>
        <p:spPr>
          <a:xfrm>
            <a:off x="4448288" y="2095262"/>
            <a:ext cx="330259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/>
              <a:t>Why does this opportunity exist ?</a:t>
            </a:r>
          </a:p>
          <a:p>
            <a:endParaRPr lang="en-US" sz="1600" b="1" dirty="0"/>
          </a:p>
          <a:p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Investors often overlook high-quality undervalued companies, creating mispricing opportunities</a:t>
            </a:r>
            <a:endParaRPr lang="en-US" sz="1600" dirty="0"/>
          </a:p>
          <a:p>
            <a:r>
              <a:rPr lang="en-US" dirty="0"/>
              <a:t> 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3BF38-6AD9-2550-7C21-634198BF1F29}"/>
              </a:ext>
            </a:extLst>
          </p:cNvPr>
          <p:cNvSpPr txBox="1"/>
          <p:nvPr/>
        </p:nvSpPr>
        <p:spPr>
          <a:xfrm>
            <a:off x="8299527" y="2085062"/>
            <a:ext cx="32272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Asset universe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300 S&amp;P 500 companies</a:t>
            </a:r>
            <a:endParaRPr lang="fr-FR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8B884B-265F-71BD-D027-EF314F31E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27" y="4236887"/>
            <a:ext cx="2600325" cy="1762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BBEB2D-869C-1527-8CF7-B95562E2F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288" y="4302996"/>
            <a:ext cx="3264427" cy="16299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25F552-E9A1-6EC0-FC5F-9E01583DE9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060" y="4326662"/>
            <a:ext cx="2852681" cy="16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4281641" y="390818"/>
            <a:ext cx="3628718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UNIVERSE &amp; DATA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00FDF25-7676-C722-BC52-28C80146238F}"/>
              </a:ext>
            </a:extLst>
          </p:cNvPr>
          <p:cNvSpPr/>
          <p:nvPr/>
        </p:nvSpPr>
        <p:spPr>
          <a:xfrm>
            <a:off x="1558229" y="2739038"/>
            <a:ext cx="2281695" cy="2281695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422A617-C801-2FBA-842F-CF555A34DFC1}"/>
              </a:ext>
            </a:extLst>
          </p:cNvPr>
          <p:cNvSpPr/>
          <p:nvPr/>
        </p:nvSpPr>
        <p:spPr>
          <a:xfrm>
            <a:off x="3186938" y="2728613"/>
            <a:ext cx="2281695" cy="2281695"/>
          </a:xfrm>
          <a:prstGeom prst="flowChartConnector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693B99E-D3E7-36B0-309B-610EA2215425}"/>
              </a:ext>
            </a:extLst>
          </p:cNvPr>
          <p:cNvSpPr/>
          <p:nvPr/>
        </p:nvSpPr>
        <p:spPr>
          <a:xfrm>
            <a:off x="2211213" y="1267111"/>
            <a:ext cx="2281695" cy="2281695"/>
          </a:xfrm>
          <a:prstGeom prst="flowChartConnector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EF3BE-F69F-F88B-9CF5-7AFEB1F02BB5}"/>
              </a:ext>
            </a:extLst>
          </p:cNvPr>
          <p:cNvSpPr txBox="1"/>
          <p:nvPr/>
        </p:nvSpPr>
        <p:spPr>
          <a:xfrm>
            <a:off x="2810336" y="2157889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S&amp;P 500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2E440-4600-986D-BE6E-1F4CCCB30393}"/>
              </a:ext>
            </a:extLst>
          </p:cNvPr>
          <p:cNvSpPr txBox="1"/>
          <p:nvPr/>
        </p:nvSpPr>
        <p:spPr>
          <a:xfrm>
            <a:off x="1908103" y="3517364"/>
            <a:ext cx="1219583" cy="662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Market cap &gt; $5B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962C1-1836-1D18-3882-8BEF23715A83}"/>
              </a:ext>
            </a:extLst>
          </p:cNvPr>
          <p:cNvSpPr txBox="1"/>
          <p:nvPr/>
        </p:nvSpPr>
        <p:spPr>
          <a:xfrm>
            <a:off x="3835010" y="3511743"/>
            <a:ext cx="1743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Average daily volume &gt; 500k</a:t>
            </a:r>
            <a:endParaRPr lang="fr-FR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48811A-28F6-E9AF-E038-787C9937B572}"/>
              </a:ext>
            </a:extLst>
          </p:cNvPr>
          <p:cNvGrpSpPr/>
          <p:nvPr/>
        </p:nvGrpSpPr>
        <p:grpSpPr>
          <a:xfrm>
            <a:off x="1341917" y="2157889"/>
            <a:ext cx="2194560" cy="1158900"/>
            <a:chOff x="489473" y="1038113"/>
            <a:chExt cx="2194560" cy="253342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D5EBB80-3AE7-5C9C-F471-31F1EDF13766}"/>
                </a:ext>
              </a:extLst>
            </p:cNvPr>
            <p:cNvCxnSpPr/>
            <p:nvPr/>
          </p:nvCxnSpPr>
          <p:spPr>
            <a:xfrm>
              <a:off x="500231" y="3571539"/>
              <a:ext cx="218380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E406BEC-FEAF-5910-25CC-C94AE2A68840}"/>
                </a:ext>
              </a:extLst>
            </p:cNvPr>
            <p:cNvCxnSpPr/>
            <p:nvPr/>
          </p:nvCxnSpPr>
          <p:spPr>
            <a:xfrm flipV="1">
              <a:off x="489473" y="1038113"/>
              <a:ext cx="0" cy="25334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4F1DE0A-BE7D-A29A-BF8E-6198E0AA6245}"/>
              </a:ext>
            </a:extLst>
          </p:cNvPr>
          <p:cNvSpPr txBox="1"/>
          <p:nvPr/>
        </p:nvSpPr>
        <p:spPr>
          <a:xfrm>
            <a:off x="912400" y="1740076"/>
            <a:ext cx="178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Universe</a:t>
            </a:r>
            <a:endParaRPr lang="fr-F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D8A4FE-9C13-879C-77B9-91BEEF54BA17}"/>
              </a:ext>
            </a:extLst>
          </p:cNvPr>
          <p:cNvSpPr txBox="1"/>
          <p:nvPr/>
        </p:nvSpPr>
        <p:spPr>
          <a:xfrm>
            <a:off x="7575795" y="1740076"/>
            <a:ext cx="3910405" cy="305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6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(from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yfinance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Daily/weekly prices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undamentals: P/E, P/B, EV/EBITDA, ROE, Debt/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quity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SzPct val="60000"/>
              <a:buFont typeface="Wingdings" panose="05000000000000000000" pitchFamily="2" charset="2"/>
              <a:buChar char="Ø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Frequency</a:t>
            </a:r>
            <a:b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Quarterly fundamentals, daily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prices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3" grpId="0" animBg="1"/>
      <p:bldP spid="9" grpId="0"/>
      <p:bldP spid="10" grpId="0"/>
      <p:bldP spid="12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1F6F16-AC0E-190A-96DD-51FC9C311394}"/>
              </a:ext>
            </a:extLst>
          </p:cNvPr>
          <p:cNvSpPr txBox="1"/>
          <p:nvPr/>
        </p:nvSpPr>
        <p:spPr>
          <a:xfrm>
            <a:off x="1113824" y="2338840"/>
            <a:ext cx="7214617" cy="2376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 factors: 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P/E, low EV/EBITDA, low P/B</a:t>
            </a:r>
            <a:endParaRPr lang="fr-F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Quality factors: 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ROE, low debt/equity</a:t>
            </a:r>
            <a:endParaRPr lang="fr-F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Momentum filter: 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select stocks with 	positive 3 and 12-month price momentum.</a:t>
            </a:r>
            <a:endParaRPr lang="fr-F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BC202-3F61-4B28-908C-56E7D4F14637}"/>
              </a:ext>
            </a:extLst>
          </p:cNvPr>
          <p:cNvSpPr txBox="1"/>
          <p:nvPr/>
        </p:nvSpPr>
        <p:spPr>
          <a:xfrm>
            <a:off x="3863559" y="351963"/>
            <a:ext cx="44648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DISIGN </a:t>
            </a:r>
            <a:r>
              <a:rPr lang="el-G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(Alpha)</a:t>
            </a:r>
            <a:endParaRPr lang="fr-F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E521D-76D5-A9D9-9A72-554E04C67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9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18B75-F012-67A5-8371-15FCAC8D032A}"/>
              </a:ext>
            </a:extLst>
          </p:cNvPr>
          <p:cNvSpPr txBox="1"/>
          <p:nvPr/>
        </p:nvSpPr>
        <p:spPr>
          <a:xfrm>
            <a:off x="270511" y="1855694"/>
            <a:ext cx="5214321" cy="16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Long </a:t>
            </a:r>
            <a:r>
              <a:rPr lang="el-G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</a:t>
            </a: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 ranked stocks.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to each position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Equal weight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B2D307E-D2E3-B0D2-14FD-36DDEE6A1C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7360999"/>
              </p:ext>
            </p:extLst>
          </p:nvPr>
        </p:nvGraphicFramePr>
        <p:xfrm>
          <a:off x="2739838" y="691171"/>
          <a:ext cx="9133242" cy="5759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CBBB1C-BA3A-CF92-4149-57B1F45A709E}"/>
              </a:ext>
            </a:extLst>
          </p:cNvPr>
          <p:cNvSpPr txBox="1"/>
          <p:nvPr/>
        </p:nvSpPr>
        <p:spPr>
          <a:xfrm>
            <a:off x="3382500" y="407005"/>
            <a:ext cx="542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PORTOFOLIO CONSTRUCTION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40597-3BAF-73B0-9ADA-6B5D28AE5C61}"/>
              </a:ext>
            </a:extLst>
          </p:cNvPr>
          <p:cNvSpPr txBox="1"/>
          <p:nvPr/>
        </p:nvSpPr>
        <p:spPr>
          <a:xfrm>
            <a:off x="270511" y="4799607"/>
            <a:ext cx="41385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Rebalance</a:t>
            </a:r>
            <a:r>
              <a:rPr lang="el-G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semi-annually</a:t>
            </a:r>
            <a:r>
              <a:rPr lang="de-D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</a:t>
            </a:r>
            <a:r>
              <a:rPr lang="de-DE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de-DE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s</a:t>
            </a:r>
            <a:r>
              <a:rPr lang="en-US" dirty="0">
                <a:latin typeface="Aptos" panose="020B0004020202020204" pitchFamily="34" charset="0"/>
              </a:rPr>
              <a:t>tock is no more part of the S&amp;P 500 we replace it according to our strategy 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339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E56C4-589C-9FE6-2F51-89E75523B498}"/>
              </a:ext>
            </a:extLst>
          </p:cNvPr>
          <p:cNvSpPr txBox="1"/>
          <p:nvPr/>
        </p:nvSpPr>
        <p:spPr>
          <a:xfrm>
            <a:off x="1147482" y="1999681"/>
            <a:ext cx="4948518" cy="3161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Stop-loss: deterioration in fundamentals.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fr-FR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30% exposure per sector.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Track: max drawdown, Sharpe ratio, beta vs S&amp;P 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265E5-2326-7FB4-FD5E-479745A7781C}"/>
              </a:ext>
            </a:extLst>
          </p:cNvPr>
          <p:cNvSpPr txBox="1"/>
          <p:nvPr/>
        </p:nvSpPr>
        <p:spPr>
          <a:xfrm>
            <a:off x="4950759" y="500230"/>
            <a:ext cx="236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ptos" panose="020B0004020202020204" pitchFamily="34" charset="0"/>
              </a:rPr>
              <a:t>RISK MANAGEMENT</a:t>
            </a:r>
            <a:endParaRPr lang="fr-FR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64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E5984-0385-EB90-C885-D4D4805EF6D3}"/>
              </a:ext>
            </a:extLst>
          </p:cNvPr>
          <p:cNvSpPr txBox="1"/>
          <p:nvPr/>
        </p:nvSpPr>
        <p:spPr>
          <a:xfrm>
            <a:off x="1586385" y="2190929"/>
            <a:ext cx="4547715" cy="300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Period:</a:t>
            </a: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Last</a:t>
            </a: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years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Benchmark: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S&amp;P 500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Metrics: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Annualized return, Annualized Volatility, Sharpe ratio, Max Drawdown, Var, CVar 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Stress test during market crises (2008, 2020).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B7651-B80D-F291-4A1D-1DD563DE679D}"/>
              </a:ext>
            </a:extLst>
          </p:cNvPr>
          <p:cNvSpPr txBox="1"/>
          <p:nvPr/>
        </p:nvSpPr>
        <p:spPr>
          <a:xfrm>
            <a:off x="4364467" y="537882"/>
            <a:ext cx="375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ptos" panose="020B0004020202020204" pitchFamily="34" charset="0"/>
              </a:rPr>
              <a:t>BACKTESTING &amp; PERFORMANCE</a:t>
            </a:r>
            <a:endParaRPr lang="fr-FR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38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F369F8-A45E-A725-B2B9-BCAFAADCD144}"/>
              </a:ext>
            </a:extLst>
          </p:cNvPr>
          <p:cNvSpPr txBox="1"/>
          <p:nvPr/>
        </p:nvSpPr>
        <p:spPr>
          <a:xfrm>
            <a:off x="4219911" y="458369"/>
            <a:ext cx="3752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latin typeface="Aptos" panose="020B0004020202020204" pitchFamily="34" charset="0"/>
              </a:rPr>
              <a:t>Potential </a:t>
            </a:r>
            <a:r>
              <a:rPr lang="de-DE" sz="2800" b="1" dirty="0" err="1">
                <a:latin typeface="Aptos" panose="020B0004020202020204" pitchFamily="34" charset="0"/>
              </a:rPr>
              <a:t>Risks</a:t>
            </a:r>
            <a:endParaRPr lang="fr-FR" sz="28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D8832100-A4C3-CB01-F717-F39D65F07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2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F843252F-0DBB-F913-780E-9D1A41496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2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1E86EFA-8DEB-D0B3-3FEF-2F5DB205E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2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234</TotalTime>
  <Words>326</Words>
  <Application>Microsoft Office PowerPoint</Application>
  <PresentationFormat>Widescreen</PresentationFormat>
  <Paragraphs>63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Symbol</vt:lpstr>
      <vt:lpstr>Wingdings</vt:lpstr>
      <vt:lpstr>Retrospect</vt:lpstr>
      <vt:lpstr>Value-Quality-Momentum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Kofi Yigbe</dc:creator>
  <cp:lastModifiedBy>GEORGIOS MOSCHOVIS</cp:lastModifiedBy>
  <cp:revision>12</cp:revision>
  <dcterms:created xsi:type="dcterms:W3CDTF">2025-11-16T21:40:45Z</dcterms:created>
  <dcterms:modified xsi:type="dcterms:W3CDTF">2025-11-19T20:16:51Z</dcterms:modified>
</cp:coreProperties>
</file>