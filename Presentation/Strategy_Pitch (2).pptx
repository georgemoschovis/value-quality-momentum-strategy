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drawings/drawing1.xml" ContentType="application/vnd.openxmlformats-officedocument.drawingml.chartshapes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1"/>
  </p:sldMasterIdLst>
  <p:notesMasterIdLst>
    <p:notesMasterId r:id="rId14"/>
  </p:notesMasterIdLst>
  <p:handoutMasterIdLst>
    <p:handoutMasterId r:id="rId15"/>
  </p:handoutMasterIdLst>
  <p:sldIdLst>
    <p:sldId id="256" r:id="rId2"/>
    <p:sldId id="289" r:id="rId3"/>
    <p:sldId id="290" r:id="rId4"/>
    <p:sldId id="276" r:id="rId5"/>
    <p:sldId id="291" r:id="rId6"/>
    <p:sldId id="292" r:id="rId7"/>
    <p:sldId id="293" r:id="rId8"/>
    <p:sldId id="294" r:id="rId9"/>
    <p:sldId id="298" r:id="rId10"/>
    <p:sldId id="295" r:id="rId11"/>
    <p:sldId id="296" r:id="rId12"/>
    <p:sldId id="29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19" userDrawn="1">
          <p15:clr>
            <a:srgbClr val="A4A3A4"/>
          </p15:clr>
        </p15:guide>
        <p15:guide id="2" pos="3864" userDrawn="1">
          <p15:clr>
            <a:srgbClr val="A4A3A4"/>
          </p15:clr>
        </p15:guide>
        <p15:guide id="3" pos="7512" userDrawn="1">
          <p15:clr>
            <a:srgbClr val="A4A3A4"/>
          </p15:clr>
        </p15:guide>
        <p15:guide id="4" pos="143" userDrawn="1">
          <p15:clr>
            <a:srgbClr val="A4A3A4"/>
          </p15:clr>
        </p15:guide>
        <p15:guide id="5" orient="horz" pos="624" userDrawn="1">
          <p15:clr>
            <a:srgbClr val="A4A3A4"/>
          </p15:clr>
        </p15:guide>
        <p15:guide id="6" orient="horz" pos="40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15" autoAdjust="0"/>
    <p:restoredTop sz="71157" autoAdjust="0"/>
  </p:normalViewPr>
  <p:slideViewPr>
    <p:cSldViewPr snapToGrid="0" showGuides="1">
      <p:cViewPr varScale="1">
        <p:scale>
          <a:sx n="58" d="100"/>
          <a:sy n="58" d="100"/>
        </p:scale>
        <p:origin x="1555" y="62"/>
      </p:cViewPr>
      <p:guideLst>
        <p:guide orient="horz" pos="2319"/>
        <p:guide pos="3864"/>
        <p:guide pos="7512"/>
        <p:guide pos="143"/>
        <p:guide orient="horz" pos="624"/>
        <p:guide orient="horz" pos="4056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1" d="100"/>
          <a:sy n="71" d="100"/>
        </p:scale>
        <p:origin x="2676" y="2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5" Type="http://schemas.openxmlformats.org/officeDocument/2006/relationships/chartUserShapes" Target="../drawings/drawing1.xml"/><Relationship Id="rId4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26785789755707778"/>
          <c:y val="0.11422623330157311"/>
          <c:w val="0.48947799696975069"/>
          <c:h val="0.77615583392825893"/>
        </c:manualLayout>
      </c:layout>
      <c:doughnutChart>
        <c:varyColors val="1"/>
        <c:ser>
          <c:idx val="0"/>
          <c:order val="0"/>
          <c:tx>
            <c:strRef>
              <c:f>Sheet1!$M$4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6B8-423C-9E9E-B2F06373322F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6B8-423C-9E9E-B2F06373322F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6B8-423C-9E9E-B2F06373322F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66B8-423C-9E9E-B2F06373322F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66B8-423C-9E9E-B2F06373322F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66B8-423C-9E9E-B2F06373322F}"/>
              </c:ext>
            </c:extLst>
          </c:dPt>
          <c:dPt>
            <c:idx val="6"/>
            <c:bubble3D val="0"/>
            <c:spPr>
              <a:solidFill>
                <a:schemeClr val="accent1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66B8-423C-9E9E-B2F06373322F}"/>
              </c:ext>
            </c:extLst>
          </c:dPt>
          <c:dPt>
            <c:idx val="7"/>
            <c:bubble3D val="0"/>
            <c:spPr>
              <a:solidFill>
                <a:schemeClr val="accent2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F-66B8-423C-9E9E-B2F06373322F}"/>
              </c:ext>
            </c:extLst>
          </c:dPt>
          <c:dPt>
            <c:idx val="8"/>
            <c:bubble3D val="0"/>
            <c:spPr>
              <a:solidFill>
                <a:schemeClr val="accent3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1-66B8-423C-9E9E-B2F06373322F}"/>
              </c:ext>
            </c:extLst>
          </c:dPt>
          <c:dPt>
            <c:idx val="9"/>
            <c:bubble3D val="0"/>
            <c:spPr>
              <a:solidFill>
                <a:schemeClr val="accent4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3-66B8-423C-9E9E-B2F06373322F}"/>
              </c:ext>
            </c:extLst>
          </c:dPt>
          <c:dPt>
            <c:idx val="10"/>
            <c:bubble3D val="0"/>
            <c:spPr>
              <a:solidFill>
                <a:schemeClr val="accent5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5-66B8-423C-9E9E-B2F06373322F}"/>
              </c:ext>
            </c:extLst>
          </c:dPt>
          <c:dPt>
            <c:idx val="11"/>
            <c:bubble3D val="0"/>
            <c:spPr>
              <a:solidFill>
                <a:schemeClr val="accent6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7-66B8-423C-9E9E-B2F06373322F}"/>
              </c:ext>
            </c:extLst>
          </c:dPt>
          <c:dPt>
            <c:idx val="12"/>
            <c:bubble3D val="0"/>
            <c:spPr>
              <a:solidFill>
                <a:schemeClr val="accent1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9-66B8-423C-9E9E-B2F06373322F}"/>
              </c:ext>
            </c:extLst>
          </c:dPt>
          <c:dPt>
            <c:idx val="13"/>
            <c:bubble3D val="0"/>
            <c:spPr>
              <a:solidFill>
                <a:schemeClr val="accent2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B-66B8-423C-9E9E-B2F06373322F}"/>
              </c:ext>
            </c:extLst>
          </c:dPt>
          <c:dPt>
            <c:idx val="14"/>
            <c:bubble3D val="0"/>
            <c:spPr>
              <a:solidFill>
                <a:schemeClr val="accent3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D-66B8-423C-9E9E-B2F06373322F}"/>
              </c:ext>
            </c:extLst>
          </c:dPt>
          <c:dPt>
            <c:idx val="15"/>
            <c:bubble3D val="0"/>
            <c:spPr>
              <a:solidFill>
                <a:schemeClr val="accent4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F-66B8-423C-9E9E-B2F06373322F}"/>
              </c:ext>
            </c:extLst>
          </c:dPt>
          <c:dPt>
            <c:idx val="16"/>
            <c:bubble3D val="0"/>
            <c:spPr>
              <a:solidFill>
                <a:schemeClr val="accent5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1-66B8-423C-9E9E-B2F06373322F}"/>
              </c:ext>
            </c:extLst>
          </c:dPt>
          <c:dPt>
            <c:idx val="17"/>
            <c:bubble3D val="0"/>
            <c:spPr>
              <a:solidFill>
                <a:schemeClr val="accent6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3-66B8-423C-9E9E-B2F06373322F}"/>
              </c:ext>
            </c:extLst>
          </c:dPt>
          <c:dPt>
            <c:idx val="18"/>
            <c:bubble3D val="0"/>
            <c:spPr>
              <a:solidFill>
                <a:schemeClr val="accent1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5-66B8-423C-9E9E-B2F06373322F}"/>
              </c:ext>
            </c:extLst>
          </c:dPt>
          <c:dPt>
            <c:idx val="19"/>
            <c:bubble3D val="0"/>
            <c:spPr>
              <a:solidFill>
                <a:schemeClr val="accent2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7-66B8-423C-9E9E-B2F06373322F}"/>
              </c:ext>
            </c:extLst>
          </c:dPt>
          <c:dPt>
            <c:idx val="20"/>
            <c:bubble3D val="0"/>
            <c:spPr>
              <a:solidFill>
                <a:schemeClr val="accent3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9-66B8-423C-9E9E-B2F06373322F}"/>
              </c:ext>
            </c:extLst>
          </c:dPt>
          <c:dPt>
            <c:idx val="21"/>
            <c:bubble3D val="0"/>
            <c:spPr>
              <a:solidFill>
                <a:schemeClr val="accent4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B-66B8-423C-9E9E-B2F06373322F}"/>
              </c:ext>
            </c:extLst>
          </c:dPt>
          <c:dPt>
            <c:idx val="22"/>
            <c:bubble3D val="0"/>
            <c:spPr>
              <a:solidFill>
                <a:schemeClr val="accent5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D-66B8-423C-9E9E-B2F06373322F}"/>
              </c:ext>
            </c:extLst>
          </c:dPt>
          <c:dPt>
            <c:idx val="23"/>
            <c:bubble3D val="0"/>
            <c:spPr>
              <a:solidFill>
                <a:schemeClr val="accent6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2F-66B8-423C-9E9E-B2F06373322F}"/>
              </c:ext>
            </c:extLst>
          </c:dPt>
          <c:dPt>
            <c:idx val="24"/>
            <c:bubble3D val="0"/>
            <c:spPr>
              <a:solidFill>
                <a:schemeClr val="accent1">
                  <a:lumMod val="60000"/>
                  <a:lumOff val="4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31-66B8-423C-9E9E-B2F06373322F}"/>
              </c:ext>
            </c:extLst>
          </c:dPt>
          <c:dPt>
            <c:idx val="25"/>
            <c:bubble3D val="0"/>
            <c:spPr>
              <a:solidFill>
                <a:schemeClr val="accent2">
                  <a:lumMod val="60000"/>
                  <a:lumOff val="4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33-66B8-423C-9E9E-B2F06373322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Sheet1!$L$5:$L$30</c:f>
              <c:strCache>
                <c:ptCount val="26"/>
                <c:pt idx="0">
                  <c:v>Technology</c:v>
                </c:pt>
                <c:pt idx="1">
                  <c:v>Stock 1</c:v>
                </c:pt>
                <c:pt idx="2">
                  <c:v>Stock 2</c:v>
                </c:pt>
                <c:pt idx="3">
                  <c:v>Stock 3</c:v>
                </c:pt>
                <c:pt idx="4">
                  <c:v>Stock 4</c:v>
                </c:pt>
                <c:pt idx="5">
                  <c:v>Stock 5</c:v>
                </c:pt>
                <c:pt idx="6">
                  <c:v>Health Care</c:v>
                </c:pt>
                <c:pt idx="7">
                  <c:v>Stock 6</c:v>
                </c:pt>
                <c:pt idx="8">
                  <c:v>Stock 7</c:v>
                </c:pt>
                <c:pt idx="9">
                  <c:v>Stock 8</c:v>
                </c:pt>
                <c:pt idx="10">
                  <c:v>Stock 9</c:v>
                </c:pt>
                <c:pt idx="11">
                  <c:v>Financials</c:v>
                </c:pt>
                <c:pt idx="12">
                  <c:v>Stock 10</c:v>
                </c:pt>
                <c:pt idx="13">
                  <c:v>Stock 11</c:v>
                </c:pt>
                <c:pt idx="14">
                  <c:v>Stock 12</c:v>
                </c:pt>
                <c:pt idx="15">
                  <c:v>Energy</c:v>
                </c:pt>
                <c:pt idx="16">
                  <c:v>Stock 13</c:v>
                </c:pt>
                <c:pt idx="17">
                  <c:v>Stock 14</c:v>
                </c:pt>
                <c:pt idx="18">
                  <c:v>Consumer Discretionary</c:v>
                </c:pt>
                <c:pt idx="19">
                  <c:v>Stock 15</c:v>
                </c:pt>
                <c:pt idx="20">
                  <c:v>Stock 16</c:v>
                </c:pt>
                <c:pt idx="21">
                  <c:v>Stock 17</c:v>
                </c:pt>
                <c:pt idx="22">
                  <c:v>Stock 18</c:v>
                </c:pt>
                <c:pt idx="23">
                  <c:v>Real Estate</c:v>
                </c:pt>
                <c:pt idx="24">
                  <c:v>Stock 19</c:v>
                </c:pt>
                <c:pt idx="25">
                  <c:v>Stock 20</c:v>
                </c:pt>
              </c:strCache>
            </c:strRef>
          </c:cat>
          <c:val>
            <c:numRef>
              <c:f>Sheet1!$M$5:$M$30</c:f>
              <c:numCache>
                <c:formatCode>General</c:formatCode>
                <c:ptCount val="26"/>
                <c:pt idx="0" formatCode="0%">
                  <c:v>0.25</c:v>
                </c:pt>
                <c:pt idx="6" formatCode="0%">
                  <c:v>0.2</c:v>
                </c:pt>
                <c:pt idx="11" formatCode="0%">
                  <c:v>0.15000000000000002</c:v>
                </c:pt>
                <c:pt idx="15" formatCode="0%">
                  <c:v>0.1</c:v>
                </c:pt>
                <c:pt idx="18" formatCode="0%">
                  <c:v>0.2</c:v>
                </c:pt>
                <c:pt idx="23" formatCode="0%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34-66B8-423C-9E9E-B2F06373322F}"/>
            </c:ext>
          </c:extLst>
        </c:ser>
        <c:ser>
          <c:idx val="1"/>
          <c:order val="1"/>
          <c:tx>
            <c:strRef>
              <c:f>Sheet1!$N$4</c:f>
              <c:strCache>
                <c:ptCount val="1"/>
                <c:pt idx="0">
                  <c:v>Position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36-66B8-423C-9E9E-B2F06373322F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38-66B8-423C-9E9E-B2F06373322F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3A-66B8-423C-9E9E-B2F06373322F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3C-66B8-423C-9E9E-B2F06373322F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3E-66B8-423C-9E9E-B2F06373322F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40-66B8-423C-9E9E-B2F06373322F}"/>
              </c:ext>
            </c:extLst>
          </c:dPt>
          <c:dPt>
            <c:idx val="6"/>
            <c:bubble3D val="0"/>
            <c:spPr>
              <a:solidFill>
                <a:schemeClr val="accent1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42-66B8-423C-9E9E-B2F06373322F}"/>
              </c:ext>
            </c:extLst>
          </c:dPt>
          <c:dPt>
            <c:idx val="7"/>
            <c:bubble3D val="0"/>
            <c:spPr>
              <a:solidFill>
                <a:schemeClr val="accent2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44-66B8-423C-9E9E-B2F06373322F}"/>
              </c:ext>
            </c:extLst>
          </c:dPt>
          <c:dPt>
            <c:idx val="8"/>
            <c:bubble3D val="0"/>
            <c:spPr>
              <a:solidFill>
                <a:schemeClr val="accent3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46-66B8-423C-9E9E-B2F06373322F}"/>
              </c:ext>
            </c:extLst>
          </c:dPt>
          <c:dPt>
            <c:idx val="9"/>
            <c:bubble3D val="0"/>
            <c:spPr>
              <a:solidFill>
                <a:schemeClr val="accent4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48-66B8-423C-9E9E-B2F06373322F}"/>
              </c:ext>
            </c:extLst>
          </c:dPt>
          <c:dPt>
            <c:idx val="10"/>
            <c:bubble3D val="0"/>
            <c:spPr>
              <a:solidFill>
                <a:schemeClr val="accent5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4A-66B8-423C-9E9E-B2F06373322F}"/>
              </c:ext>
            </c:extLst>
          </c:dPt>
          <c:dPt>
            <c:idx val="11"/>
            <c:bubble3D val="0"/>
            <c:spPr>
              <a:solidFill>
                <a:schemeClr val="accent6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4C-66B8-423C-9E9E-B2F06373322F}"/>
              </c:ext>
            </c:extLst>
          </c:dPt>
          <c:dPt>
            <c:idx val="12"/>
            <c:bubble3D val="0"/>
            <c:spPr>
              <a:solidFill>
                <a:schemeClr val="accent1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4E-66B8-423C-9E9E-B2F06373322F}"/>
              </c:ext>
            </c:extLst>
          </c:dPt>
          <c:dPt>
            <c:idx val="13"/>
            <c:bubble3D val="0"/>
            <c:spPr>
              <a:solidFill>
                <a:schemeClr val="accent2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50-66B8-423C-9E9E-B2F06373322F}"/>
              </c:ext>
            </c:extLst>
          </c:dPt>
          <c:dPt>
            <c:idx val="14"/>
            <c:bubble3D val="0"/>
            <c:spPr>
              <a:solidFill>
                <a:schemeClr val="accent3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52-66B8-423C-9E9E-B2F06373322F}"/>
              </c:ext>
            </c:extLst>
          </c:dPt>
          <c:dPt>
            <c:idx val="15"/>
            <c:bubble3D val="0"/>
            <c:spPr>
              <a:solidFill>
                <a:schemeClr val="accent4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54-66B8-423C-9E9E-B2F06373322F}"/>
              </c:ext>
            </c:extLst>
          </c:dPt>
          <c:dPt>
            <c:idx val="16"/>
            <c:bubble3D val="0"/>
            <c:spPr>
              <a:solidFill>
                <a:schemeClr val="accent5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56-66B8-423C-9E9E-B2F06373322F}"/>
              </c:ext>
            </c:extLst>
          </c:dPt>
          <c:dPt>
            <c:idx val="17"/>
            <c:bubble3D val="0"/>
            <c:spPr>
              <a:solidFill>
                <a:schemeClr val="accent6">
                  <a:lumMod val="80000"/>
                  <a:lumOff val="2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58-66B8-423C-9E9E-B2F06373322F}"/>
              </c:ext>
            </c:extLst>
          </c:dPt>
          <c:dPt>
            <c:idx val="18"/>
            <c:bubble3D val="0"/>
            <c:spPr>
              <a:solidFill>
                <a:schemeClr val="accent1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5A-66B8-423C-9E9E-B2F06373322F}"/>
              </c:ext>
            </c:extLst>
          </c:dPt>
          <c:dPt>
            <c:idx val="19"/>
            <c:bubble3D val="0"/>
            <c:spPr>
              <a:solidFill>
                <a:schemeClr val="accent2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5C-66B8-423C-9E9E-B2F06373322F}"/>
              </c:ext>
            </c:extLst>
          </c:dPt>
          <c:dPt>
            <c:idx val="20"/>
            <c:bubble3D val="0"/>
            <c:spPr>
              <a:solidFill>
                <a:schemeClr val="accent3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5E-66B8-423C-9E9E-B2F06373322F}"/>
              </c:ext>
            </c:extLst>
          </c:dPt>
          <c:dPt>
            <c:idx val="21"/>
            <c:bubble3D val="0"/>
            <c:spPr>
              <a:solidFill>
                <a:schemeClr val="accent4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60-66B8-423C-9E9E-B2F06373322F}"/>
              </c:ext>
            </c:extLst>
          </c:dPt>
          <c:dPt>
            <c:idx val="22"/>
            <c:bubble3D val="0"/>
            <c:spPr>
              <a:solidFill>
                <a:schemeClr val="accent5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62-66B8-423C-9E9E-B2F06373322F}"/>
              </c:ext>
            </c:extLst>
          </c:dPt>
          <c:dPt>
            <c:idx val="23"/>
            <c:bubble3D val="0"/>
            <c:spPr>
              <a:solidFill>
                <a:schemeClr val="accent6">
                  <a:lumMod val="8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64-66B8-423C-9E9E-B2F06373322F}"/>
              </c:ext>
            </c:extLst>
          </c:dPt>
          <c:dPt>
            <c:idx val="24"/>
            <c:bubble3D val="0"/>
            <c:spPr>
              <a:solidFill>
                <a:schemeClr val="accent1">
                  <a:lumMod val="60000"/>
                  <a:lumOff val="4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66-66B8-423C-9E9E-B2F06373322F}"/>
              </c:ext>
            </c:extLst>
          </c:dPt>
          <c:dPt>
            <c:idx val="25"/>
            <c:bubble3D val="0"/>
            <c:spPr>
              <a:solidFill>
                <a:schemeClr val="accent2">
                  <a:lumMod val="60000"/>
                  <a:lumOff val="4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68-66B8-423C-9E9E-B2F06373322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Sheet1!$L$5:$L$30</c:f>
              <c:strCache>
                <c:ptCount val="26"/>
                <c:pt idx="0">
                  <c:v>Technology</c:v>
                </c:pt>
                <c:pt idx="1">
                  <c:v>Stock 1</c:v>
                </c:pt>
                <c:pt idx="2">
                  <c:v>Stock 2</c:v>
                </c:pt>
                <c:pt idx="3">
                  <c:v>Stock 3</c:v>
                </c:pt>
                <c:pt idx="4">
                  <c:v>Stock 4</c:v>
                </c:pt>
                <c:pt idx="5">
                  <c:v>Stock 5</c:v>
                </c:pt>
                <c:pt idx="6">
                  <c:v>Health Care</c:v>
                </c:pt>
                <c:pt idx="7">
                  <c:v>Stock 6</c:v>
                </c:pt>
                <c:pt idx="8">
                  <c:v>Stock 7</c:v>
                </c:pt>
                <c:pt idx="9">
                  <c:v>Stock 8</c:v>
                </c:pt>
                <c:pt idx="10">
                  <c:v>Stock 9</c:v>
                </c:pt>
                <c:pt idx="11">
                  <c:v>Financials</c:v>
                </c:pt>
                <c:pt idx="12">
                  <c:v>Stock 10</c:v>
                </c:pt>
                <c:pt idx="13">
                  <c:v>Stock 11</c:v>
                </c:pt>
                <c:pt idx="14">
                  <c:v>Stock 12</c:v>
                </c:pt>
                <c:pt idx="15">
                  <c:v>Energy</c:v>
                </c:pt>
                <c:pt idx="16">
                  <c:v>Stock 13</c:v>
                </c:pt>
                <c:pt idx="17">
                  <c:v>Stock 14</c:v>
                </c:pt>
                <c:pt idx="18">
                  <c:v>Consumer Discretionary</c:v>
                </c:pt>
                <c:pt idx="19">
                  <c:v>Stock 15</c:v>
                </c:pt>
                <c:pt idx="20">
                  <c:v>Stock 16</c:v>
                </c:pt>
                <c:pt idx="21">
                  <c:v>Stock 17</c:v>
                </c:pt>
                <c:pt idx="22">
                  <c:v>Stock 18</c:v>
                </c:pt>
                <c:pt idx="23">
                  <c:v>Real Estate</c:v>
                </c:pt>
                <c:pt idx="24">
                  <c:v>Stock 19</c:v>
                </c:pt>
                <c:pt idx="25">
                  <c:v>Stock 20</c:v>
                </c:pt>
              </c:strCache>
            </c:strRef>
          </c:cat>
          <c:val>
            <c:numRef>
              <c:f>Sheet1!$N$5:$N$30</c:f>
              <c:numCache>
                <c:formatCode>0%</c:formatCode>
                <c:ptCount val="26"/>
                <c:pt idx="1">
                  <c:v>0.05</c:v>
                </c:pt>
                <c:pt idx="2">
                  <c:v>0.05</c:v>
                </c:pt>
                <c:pt idx="3">
                  <c:v>0.05</c:v>
                </c:pt>
                <c:pt idx="4">
                  <c:v>0.05</c:v>
                </c:pt>
                <c:pt idx="5">
                  <c:v>0.05</c:v>
                </c:pt>
                <c:pt idx="7">
                  <c:v>0.05</c:v>
                </c:pt>
                <c:pt idx="8">
                  <c:v>0.05</c:v>
                </c:pt>
                <c:pt idx="9">
                  <c:v>0.05</c:v>
                </c:pt>
                <c:pt idx="10">
                  <c:v>0.05</c:v>
                </c:pt>
                <c:pt idx="12">
                  <c:v>0.05</c:v>
                </c:pt>
                <c:pt idx="13">
                  <c:v>0.05</c:v>
                </c:pt>
                <c:pt idx="14">
                  <c:v>0.05</c:v>
                </c:pt>
                <c:pt idx="16">
                  <c:v>0.05</c:v>
                </c:pt>
                <c:pt idx="17">
                  <c:v>0.05</c:v>
                </c:pt>
                <c:pt idx="19">
                  <c:v>0.05</c:v>
                </c:pt>
                <c:pt idx="20">
                  <c:v>0.05</c:v>
                </c:pt>
                <c:pt idx="21">
                  <c:v>0.05</c:v>
                </c:pt>
                <c:pt idx="22">
                  <c:v>0.05</c:v>
                </c:pt>
                <c:pt idx="24">
                  <c:v>0.05</c:v>
                </c:pt>
                <c:pt idx="25">
                  <c:v>0.05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69-66B8-423C-9E9E-B2F06373322F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4">
    <c:autoUpdate val="0"/>
  </c:externalData>
  <c:userShapes r:id="rId5"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0.7966</cdr:x>
      <cdr:y>0.12467</cdr:y>
    </cdr:from>
    <cdr:to>
      <cdr:x>0.84489</cdr:x>
      <cdr:y>0.50381</cdr:y>
    </cdr:to>
    <cdr:sp macro="" textlink="">
      <cdr:nvSpPr>
        <cdr:cNvPr id="2" name="Right Brace 1">
          <a:extLst xmlns:a="http://schemas.openxmlformats.org/drawingml/2006/main">
            <a:ext uri="{FF2B5EF4-FFF2-40B4-BE49-F238E27FC236}">
              <a16:creationId xmlns:a16="http://schemas.microsoft.com/office/drawing/2014/main" id="{B03AE7C7-2550-8B98-67ED-4BBFC7928A7F}"/>
            </a:ext>
          </a:extLst>
        </cdr:cNvPr>
        <cdr:cNvSpPr/>
      </cdr:nvSpPr>
      <cdr:spPr>
        <a:xfrm xmlns:a="http://schemas.openxmlformats.org/drawingml/2006/main">
          <a:off x="7275531" y="718081"/>
          <a:ext cx="441064" cy="2183802"/>
        </a:xfrm>
        <a:prstGeom xmlns:a="http://schemas.openxmlformats.org/drawingml/2006/main" prst="rightBrace">
          <a:avLst/>
        </a:prstGeom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  <cdr:txBody>
        <a:bodyPr xmlns:a="http://schemas.openxmlformats.org/drawingml/2006/main" vertOverflow="clip"/>
        <a:lstStyle xmlns:a="http://schemas.openxmlformats.org/drawingml/2006/main"/>
        <a:p xmlns:a="http://schemas.openxmlformats.org/drawingml/2006/main">
          <a:endParaRPr lang="fr-FR"/>
        </a:p>
      </cdr:txBody>
    </cdr:sp>
  </cdr:relSizeAnchor>
  <cdr:relSizeAnchor xmlns:cdr="http://schemas.openxmlformats.org/drawingml/2006/chartDrawing">
    <cdr:from>
      <cdr:x>0.57132</cdr:x>
      <cdr:y>0.11841</cdr:y>
    </cdr:from>
    <cdr:to>
      <cdr:x>0.79167</cdr:x>
      <cdr:y>0.1227</cdr:y>
    </cdr:to>
    <cdr:cxnSp macro="">
      <cdr:nvCxnSpPr>
        <cdr:cNvPr id="4" name="Straight Connector 3">
          <a:extLst xmlns:a="http://schemas.openxmlformats.org/drawingml/2006/main">
            <a:ext uri="{FF2B5EF4-FFF2-40B4-BE49-F238E27FC236}">
              <a16:creationId xmlns:a16="http://schemas.microsoft.com/office/drawing/2014/main" id="{6F6E8E9C-17BF-F716-7E4D-E35E654396B6}"/>
            </a:ext>
          </a:extLst>
        </cdr:cNvPr>
        <cdr:cNvCxnSpPr/>
      </cdr:nvCxnSpPr>
      <cdr:spPr>
        <a:xfrm xmlns:a="http://schemas.openxmlformats.org/drawingml/2006/main" flipH="1" flipV="1">
          <a:off x="5218005" y="682047"/>
          <a:ext cx="2012494" cy="24679"/>
        </a:xfrm>
        <a:prstGeom xmlns:a="http://schemas.openxmlformats.org/drawingml/2006/main" prst="line">
          <a:avLst/>
        </a:prstGeom>
        <a:ln xmlns:a="http://schemas.openxmlformats.org/drawingml/2006/main" w="9525" cap="flat" cmpd="sng" algn="ctr">
          <a:solidFill>
            <a:schemeClr val="dk1"/>
          </a:solidFill>
          <a:prstDash val="dash"/>
          <a:round/>
          <a:headEnd type="none" w="med" len="med"/>
          <a:tailEnd type="none" w="med" len="med"/>
        </a:ln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minor">
          <a:schemeClr val="tx1"/>
        </a:fontRef>
      </cdr:style>
    </cdr:cxnSp>
  </cdr:relSizeAnchor>
  <cdr:relSizeAnchor xmlns:cdr="http://schemas.openxmlformats.org/drawingml/2006/chartDrawing">
    <cdr:from>
      <cdr:x>0.76067</cdr:x>
      <cdr:y>0.50365</cdr:y>
    </cdr:from>
    <cdr:to>
      <cdr:x>0.79344</cdr:x>
      <cdr:y>0.50428</cdr:y>
    </cdr:to>
    <cdr:cxnSp macro="">
      <cdr:nvCxnSpPr>
        <cdr:cNvPr id="8" name="Straight Connector 7">
          <a:extLst xmlns:a="http://schemas.openxmlformats.org/drawingml/2006/main">
            <a:ext uri="{FF2B5EF4-FFF2-40B4-BE49-F238E27FC236}">
              <a16:creationId xmlns:a16="http://schemas.microsoft.com/office/drawing/2014/main" id="{5D392767-4797-3EBB-DC5E-D98BDC4F3318}"/>
            </a:ext>
          </a:extLst>
        </cdr:cNvPr>
        <cdr:cNvCxnSpPr/>
      </cdr:nvCxnSpPr>
      <cdr:spPr>
        <a:xfrm xmlns:a="http://schemas.openxmlformats.org/drawingml/2006/main" flipH="1" flipV="1">
          <a:off x="6947423" y="2900922"/>
          <a:ext cx="299213" cy="3669"/>
        </a:xfrm>
        <a:prstGeom xmlns:a="http://schemas.openxmlformats.org/drawingml/2006/main" prst="line">
          <a:avLst/>
        </a:prstGeom>
        <a:ln xmlns:a="http://schemas.openxmlformats.org/drawingml/2006/main" w="9525" cap="flat" cmpd="sng" algn="ctr">
          <a:solidFill>
            <a:schemeClr val="dk1"/>
          </a:solidFill>
          <a:prstDash val="dash"/>
          <a:round/>
          <a:headEnd type="none" w="med" len="med"/>
          <a:tailEnd type="none" w="med" len="med"/>
        </a:ln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minor">
          <a:schemeClr val="tx1"/>
        </a:fontRef>
      </cdr:style>
    </cdr:cxnSp>
  </cdr:relSizeAnchor>
  <cdr:relSizeAnchor xmlns:cdr="http://schemas.openxmlformats.org/drawingml/2006/chartDrawing">
    <cdr:from>
      <cdr:x>0.85078</cdr:x>
      <cdr:y>0.26013</cdr:y>
    </cdr:from>
    <cdr:to>
      <cdr:x>1</cdr:x>
      <cdr:y>0.41702</cdr:y>
    </cdr:to>
    <cdr:sp macro="" textlink="">
      <cdr:nvSpPr>
        <cdr:cNvPr id="11" name="TextBox 10">
          <a:extLst xmlns:a="http://schemas.openxmlformats.org/drawingml/2006/main">
            <a:ext uri="{FF2B5EF4-FFF2-40B4-BE49-F238E27FC236}">
              <a16:creationId xmlns:a16="http://schemas.microsoft.com/office/drawing/2014/main" id="{0E82B565-EFB6-CCDF-E434-D1D37568F4E8}"/>
            </a:ext>
          </a:extLst>
        </cdr:cNvPr>
        <cdr:cNvSpPr txBox="1"/>
      </cdr:nvSpPr>
      <cdr:spPr>
        <a:xfrm xmlns:a="http://schemas.openxmlformats.org/drawingml/2006/main">
          <a:off x="7770380" y="1498320"/>
          <a:ext cx="1362862" cy="903658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vertOverflow="clip" wrap="square" rtlCol="0"/>
        <a:lstStyle xmlns:a="http://schemas.openxmlformats.org/drawingml/2006/main"/>
        <a:p xmlns:a="http://schemas.openxmlformats.org/drawingml/2006/main">
          <a:r>
            <a:rPr lang="de-DE" sz="1200" b="1" dirty="0">
              <a:solidFill>
                <a:srgbClr val="F5F5F5"/>
              </a:solidFill>
              <a:highlight>
                <a:srgbClr val="000000"/>
              </a:highlight>
              <a:latin typeface="Aptos" panose="020B0004020202020204" pitchFamily="34" charset="0"/>
            </a:rPr>
            <a:t>5% per stock</a:t>
          </a:r>
          <a:endParaRPr lang="fr-FR" sz="1200" b="1" dirty="0">
            <a:solidFill>
              <a:srgbClr val="F5F5F5"/>
            </a:solidFill>
            <a:highlight>
              <a:srgbClr val="000000"/>
            </a:highlight>
            <a:latin typeface="Aptos" panose="020B0004020202020204" pitchFamily="34" charset="0"/>
          </a:endParaRPr>
        </a:p>
      </cdr:txBody>
    </cdr:sp>
  </cdr:relSizeAnchor>
</c:userShape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>
            <a:extLst>
              <a:ext uri="{FF2B5EF4-FFF2-40B4-BE49-F238E27FC236}">
                <a16:creationId xmlns:a16="http://schemas.microsoft.com/office/drawing/2014/main" id="{B46527B0-0B24-4087-B225-DB4F5C738F6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72798E0-F322-4236-8531-A1882BFE400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D6FB0DE1-D418-4EA9-BDFD-2E5632763663}" type="datetime1">
              <a:rPr lang="fr-FR" smtClean="0"/>
              <a:t>19/11/2025</a:t>
            </a:fld>
            <a:endParaRPr lang="en-US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4E5881F-2FD0-41BC-8E76-C691E59E146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2CA62C5-8A29-4592-9E3E-4C457F263C0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B4E85F6F-0FAD-4AD4-850C-7E4CD14D7D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274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190BD304-4DB2-4DA8-BE69-274C9984CC7A}" type="datetime1">
              <a:rPr lang="fr-FR" smtClean="0"/>
              <a:t>19/11/2025</a:t>
            </a:fld>
            <a:endParaRPr lang="en-US" dirty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"/>
              <a:t>Modifiez les styles du texte du masque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BE60DC36-8EFA-4378-9855-E019C55AC47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70536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BE60DC36-8EFA-4378-9855-E019C55AC472}" type="slidenum">
              <a:rPr lang="fr-FR" smtClean="0"/>
              <a:t>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790740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BE60DC36-8EFA-4378-9855-E019C55AC472}" type="slidenum">
              <a:rPr lang="fr-FR" smtClean="0"/>
              <a:t>4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975797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 err="1"/>
              <a:t>Quatity</a:t>
            </a:r>
            <a:r>
              <a:rPr lang="en-US" sz="1200" dirty="0"/>
              <a:t> of data is to high 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What to do when a stock is performing to well ?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E60DC36-8EFA-4378-9855-E019C55AC47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7324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E60DC36-8EFA-4378-9855-E019C55AC47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79720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19/11/2025</a:t>
            </a:fld>
            <a:endParaRPr lang="fr-FR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1025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840" y="2548037"/>
            <a:ext cx="1005840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234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19/11/2025</a:t>
            </a:fld>
            <a:endParaRPr lang="fr-FR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481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19/11/2025</a:t>
            </a:fld>
            <a:endParaRPr lang="fr-FR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525089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19/11/2025</a:t>
            </a:fld>
            <a:endParaRPr lang="fr-FR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620007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19/11/2025</a:t>
            </a:fld>
            <a:endParaRPr lang="fr-FR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4027935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19/11/2025</a:t>
            </a:fld>
            <a:endParaRPr lang="fr-FR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rtl="0"/>
            <a:endParaRPr lang="fr-FR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1054656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pPr rtl="0"/>
            <a:fld id="{78CE1DC9-D956-40C2-BAC4-4037E3AB19CC}" type="datetime1">
              <a:rPr lang="fr-FR" noProof="0" smtClean="0"/>
              <a:t>19/11/2025</a:t>
            </a:fld>
            <a:endParaRPr lang="fr-FR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fr-FR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4121565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19/11/2025</a:t>
            </a:fld>
            <a:endParaRPr lang="fr-FR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574319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19/11/2025</a:t>
            </a:fld>
            <a:endParaRPr lang="fr-FR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2237742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8CE1DC9-D956-40C2-BAC4-4037E3AB19CC}" type="datetime1">
              <a:rPr lang="fr-FR" noProof="0" smtClean="0"/>
              <a:t>19/11/2025</a:t>
            </a:fld>
            <a:endParaRPr lang="fr-FR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537301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pPr rtl="0"/>
            <a:fld id="{78CE1DC9-D956-40C2-BAC4-4037E3AB19CC}" type="datetime1">
              <a:rPr lang="fr-FR" noProof="0" smtClean="0"/>
              <a:t>19/11/2025</a:t>
            </a:fld>
            <a:endParaRPr lang="fr-FR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pPr rtl="0"/>
            <a:endParaRPr lang="fr-FR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pPr rtl="0"/>
            <a:fld id="{06FEDF93-2BFD-41CA-ABC7-B039102F3792}" type="slidenum">
              <a:rPr lang="fr-FR" noProof="0" smtClean="0"/>
              <a:t>‹#›</a:t>
            </a:fld>
            <a:endParaRPr lang="fr-FR" noProof="0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150950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pct5">
          <a:fgClr>
            <a:schemeClr val="bg1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300AEF-1595-4419-801B-6E36A33BB8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17088" y="372934"/>
            <a:ext cx="7357822" cy="1267398"/>
          </a:xfrm>
        </p:spPr>
        <p:txBody>
          <a:bodyPr wrap="square" lIns="0" tIns="0" rIns="0" bIns="0" rtlCol="0" anchor="t">
            <a:spAutoFit/>
          </a:bodyPr>
          <a:lstStyle/>
          <a:p>
            <a:pPr algn="ctr" rtl="0"/>
            <a:r>
              <a:rPr lang="en-US" sz="48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Value-Quality-Momentum Strategy</a:t>
            </a:r>
            <a:endParaRPr lang="fr-FR" sz="28700" b="1" dirty="0">
              <a:solidFill>
                <a:schemeClr val="accent4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EAB3B2-8126-FDA5-C9D7-3CF110EC3BFB}"/>
              </a:ext>
            </a:extLst>
          </p:cNvPr>
          <p:cNvSpPr txBox="1"/>
          <p:nvPr/>
        </p:nvSpPr>
        <p:spPr>
          <a:xfrm>
            <a:off x="6758609" y="5192154"/>
            <a:ext cx="524127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Hedge Fund Club </a:t>
            </a:r>
            <a:r>
              <a:rPr lang="fr-FR" sz="24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- </a:t>
            </a:r>
            <a:r>
              <a:rPr lang="fr-FR" sz="2400" b="1" dirty="0" err="1">
                <a:latin typeface="Aptos" panose="020B0004020202020204" pitchFamily="34" charset="0"/>
              </a:rPr>
              <a:t>Universität</a:t>
            </a:r>
            <a:r>
              <a:rPr lang="fr-FR" sz="2400" b="1" dirty="0">
                <a:latin typeface="Aptos" panose="020B0004020202020204" pitchFamily="34" charset="0"/>
              </a:rPr>
              <a:t> Mannheim &amp; Prime Capital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BB5967-0A46-EF72-36C7-63C8B3DF0637}"/>
              </a:ext>
            </a:extLst>
          </p:cNvPr>
          <p:cNvSpPr txBox="1"/>
          <p:nvPr/>
        </p:nvSpPr>
        <p:spPr>
          <a:xfrm>
            <a:off x="192112" y="5217667"/>
            <a:ext cx="510875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>
                <a:latin typeface="Aptos" panose="020B0004020202020204" pitchFamily="34" charset="0"/>
              </a:rPr>
              <a:t>George Moschovis &amp; Florent Yigbe</a:t>
            </a:r>
          </a:p>
          <a:p>
            <a:r>
              <a:rPr lang="de-DE" sz="2400" b="1" dirty="0">
                <a:latin typeface="Aptos" panose="020B0004020202020204" pitchFamily="34" charset="0"/>
              </a:rPr>
              <a:t>G_5 Gamma Gurus</a:t>
            </a:r>
            <a:endParaRPr lang="fr-FR" sz="2400" b="1" dirty="0">
              <a:latin typeface="Aptos" panose="020B0004020202020204" pitchFamily="34" charset="0"/>
            </a:endParaRPr>
          </a:p>
        </p:txBody>
      </p:sp>
      <p:pic>
        <p:nvPicPr>
          <p:cNvPr id="8" name="Picture 7" descr="A white silhouette of a deer&#10;&#10;AI-generated content may be incorrect.">
            <a:extLst>
              <a:ext uri="{FF2B5EF4-FFF2-40B4-BE49-F238E27FC236}">
                <a16:creationId xmlns:a16="http://schemas.microsoft.com/office/drawing/2014/main" id="{12430D4B-791D-6761-6596-1B65C1767B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437" y="2357437"/>
            <a:ext cx="2143125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849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51F878-DDA6-95D7-B618-E811B607189D}"/>
              </a:ext>
            </a:extLst>
          </p:cNvPr>
          <p:cNvSpPr txBox="1"/>
          <p:nvPr/>
        </p:nvSpPr>
        <p:spPr>
          <a:xfrm>
            <a:off x="4893833" y="667434"/>
            <a:ext cx="24043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>
                <a:latin typeface="Aptos" panose="020B0004020202020204" pitchFamily="34" charset="0"/>
              </a:rPr>
              <a:t>SUMMARY</a:t>
            </a:r>
            <a:endParaRPr lang="fr-FR" sz="3600" dirty="0">
              <a:latin typeface="Aptos" panose="020B0004020202020204" pitchFamily="34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C61FCB5-F2BD-F6F4-B908-0E6D040324AE}"/>
              </a:ext>
            </a:extLst>
          </p:cNvPr>
          <p:cNvCxnSpPr/>
          <p:nvPr/>
        </p:nvCxnSpPr>
        <p:spPr>
          <a:xfrm flipV="1">
            <a:off x="800100" y="3536950"/>
            <a:ext cx="10382250" cy="63500"/>
          </a:xfrm>
          <a:prstGeom prst="straightConnector1">
            <a:avLst/>
          </a:prstGeom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F2FD5E1-CEFF-2CBC-F8C7-3DDDA0E5396A}"/>
              </a:ext>
            </a:extLst>
          </p:cNvPr>
          <p:cNvCxnSpPr>
            <a:cxnSpLocks/>
          </p:cNvCxnSpPr>
          <p:nvPr/>
        </p:nvCxnSpPr>
        <p:spPr>
          <a:xfrm>
            <a:off x="1574800" y="3460750"/>
            <a:ext cx="0" cy="2159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322C0D4-9E65-7BAD-165E-64822FA868C1}"/>
              </a:ext>
            </a:extLst>
          </p:cNvPr>
          <p:cNvCxnSpPr>
            <a:cxnSpLocks/>
          </p:cNvCxnSpPr>
          <p:nvPr/>
        </p:nvCxnSpPr>
        <p:spPr>
          <a:xfrm>
            <a:off x="3136900" y="3460750"/>
            <a:ext cx="0" cy="2159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6337549-5678-FD2B-C728-D6F489AA1DAA}"/>
              </a:ext>
            </a:extLst>
          </p:cNvPr>
          <p:cNvCxnSpPr>
            <a:cxnSpLocks/>
          </p:cNvCxnSpPr>
          <p:nvPr/>
        </p:nvCxnSpPr>
        <p:spPr>
          <a:xfrm>
            <a:off x="4699000" y="3460750"/>
            <a:ext cx="0" cy="2159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8001884-0C21-6CAF-ED0D-DDD9DE9114C4}"/>
              </a:ext>
            </a:extLst>
          </p:cNvPr>
          <p:cNvCxnSpPr>
            <a:cxnSpLocks/>
          </p:cNvCxnSpPr>
          <p:nvPr/>
        </p:nvCxnSpPr>
        <p:spPr>
          <a:xfrm>
            <a:off x="6261100" y="3460750"/>
            <a:ext cx="0" cy="2159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F0336A1-615A-7A86-685E-1B6EE016ABEB}"/>
              </a:ext>
            </a:extLst>
          </p:cNvPr>
          <p:cNvCxnSpPr>
            <a:cxnSpLocks/>
          </p:cNvCxnSpPr>
          <p:nvPr/>
        </p:nvCxnSpPr>
        <p:spPr>
          <a:xfrm>
            <a:off x="7823200" y="3460750"/>
            <a:ext cx="0" cy="2159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2F8735D-CC12-B074-8CFA-83A0E3A87190}"/>
              </a:ext>
            </a:extLst>
          </p:cNvPr>
          <p:cNvCxnSpPr>
            <a:cxnSpLocks/>
          </p:cNvCxnSpPr>
          <p:nvPr/>
        </p:nvCxnSpPr>
        <p:spPr>
          <a:xfrm>
            <a:off x="9385300" y="3460750"/>
            <a:ext cx="0" cy="2159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D332615-491A-B95A-4C03-7FF264B228CA}"/>
              </a:ext>
            </a:extLst>
          </p:cNvPr>
          <p:cNvSpPr txBox="1"/>
          <p:nvPr/>
        </p:nvSpPr>
        <p:spPr>
          <a:xfrm>
            <a:off x="965199" y="2780910"/>
            <a:ext cx="1758947" cy="571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de-DE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Core Idea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B4CF15-56C0-BBA9-83B9-F66F13C99A04}"/>
              </a:ext>
            </a:extLst>
          </p:cNvPr>
          <p:cNvSpPr txBox="1"/>
          <p:nvPr/>
        </p:nvSpPr>
        <p:spPr>
          <a:xfrm>
            <a:off x="2035175" y="3830417"/>
            <a:ext cx="2203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Universe &amp; Data</a:t>
            </a:r>
            <a:endParaRPr lang="fr-F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6EC9B68-36F1-315B-CEDB-8A20C2024D90}"/>
              </a:ext>
            </a:extLst>
          </p:cNvPr>
          <p:cNvSpPr txBox="1"/>
          <p:nvPr/>
        </p:nvSpPr>
        <p:spPr>
          <a:xfrm>
            <a:off x="3620658" y="2954119"/>
            <a:ext cx="25463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Signal Design (Alpha)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6A06F0-1632-ECE3-B01F-93C83AA1D099}"/>
              </a:ext>
            </a:extLst>
          </p:cNvPr>
          <p:cNvSpPr txBox="1"/>
          <p:nvPr/>
        </p:nvSpPr>
        <p:spPr>
          <a:xfrm>
            <a:off x="5689601" y="3860930"/>
            <a:ext cx="15557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Portfolio </a:t>
            </a:r>
            <a:endParaRPr lang="de-DE" sz="18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r>
              <a:rPr lang="el-GR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Construction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D0E1AC-49EC-173D-2CEE-4A656B5E3B7C}"/>
              </a:ext>
            </a:extLst>
          </p:cNvPr>
          <p:cNvSpPr txBox="1"/>
          <p:nvPr/>
        </p:nvSpPr>
        <p:spPr>
          <a:xfrm>
            <a:off x="6752254" y="2942788"/>
            <a:ext cx="21418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Risk Management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39D7D1-AB99-A3BD-C2DE-0256AEBEC929}"/>
              </a:ext>
            </a:extLst>
          </p:cNvPr>
          <p:cNvSpPr txBox="1"/>
          <p:nvPr/>
        </p:nvSpPr>
        <p:spPr>
          <a:xfrm>
            <a:off x="8696327" y="3732947"/>
            <a:ext cx="20700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Backtesting &amp; Performance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061077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A50C69-E90E-22E2-F184-C748DEEE1F82}"/>
              </a:ext>
            </a:extLst>
          </p:cNvPr>
          <p:cNvSpPr txBox="1"/>
          <p:nvPr/>
        </p:nvSpPr>
        <p:spPr>
          <a:xfrm>
            <a:off x="4926483" y="401879"/>
            <a:ext cx="23390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latin typeface="Aptos" panose="020B0004020202020204" pitchFamily="34" charset="0"/>
              </a:rPr>
              <a:t>CORE IDEA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D4431C-9B54-2715-7A17-EF4E050E085B}"/>
              </a:ext>
            </a:extLst>
          </p:cNvPr>
          <p:cNvSpPr txBox="1"/>
          <p:nvPr/>
        </p:nvSpPr>
        <p:spPr>
          <a:xfrm>
            <a:off x="1194099" y="2095262"/>
            <a:ext cx="2705548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SzPct val="50000"/>
              <a:buFont typeface="Wingdings" panose="05000000000000000000" pitchFamily="2" charset="2"/>
              <a:buChar char="Ø"/>
            </a:pPr>
            <a:r>
              <a:rPr lang="en-US" b="1" dirty="0">
                <a:latin typeface="Aptos" panose="020B0004020202020204" pitchFamily="34" charset="0"/>
              </a:rPr>
              <a:t>What’s the core investment hypothesis ?</a:t>
            </a:r>
          </a:p>
          <a:p>
            <a:endParaRPr lang="en-US" sz="1600" dirty="0">
              <a:latin typeface="Aptos" panose="020B0004020202020204" pitchFamily="34" charset="0"/>
            </a:endParaRPr>
          </a:p>
          <a:p>
            <a:r>
              <a:rPr lang="en-US" sz="16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Identify u</a:t>
            </a:r>
            <a:r>
              <a:rPr lang="en-US" sz="16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ndervalued stocks with strong fundamentals and positive momentum outperform over 1–3 years</a:t>
            </a:r>
            <a:endParaRPr lang="fr-FR" sz="1600" dirty="0">
              <a:latin typeface="Aptos" panose="020B00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6C5AE2-C8C8-ECDF-78E1-D6359EF5F860}"/>
              </a:ext>
            </a:extLst>
          </p:cNvPr>
          <p:cNvSpPr txBox="1"/>
          <p:nvPr/>
        </p:nvSpPr>
        <p:spPr>
          <a:xfrm>
            <a:off x="4448288" y="2095262"/>
            <a:ext cx="3302598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SzPct val="50000"/>
              <a:buFont typeface="Wingdings" panose="05000000000000000000" pitchFamily="2" charset="2"/>
              <a:buChar char="Ø"/>
            </a:pPr>
            <a:r>
              <a:rPr lang="en-US" b="1" dirty="0"/>
              <a:t>Why does this opportunity exist ?</a:t>
            </a:r>
          </a:p>
          <a:p>
            <a:endParaRPr lang="en-US" sz="1600" b="1" dirty="0"/>
          </a:p>
          <a:p>
            <a:r>
              <a:rPr lang="en-US" sz="16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Investors often overlook high-quality undervalued companies, creating mispricing opportunities</a:t>
            </a:r>
            <a:endParaRPr lang="en-US" sz="1600" dirty="0"/>
          </a:p>
          <a:p>
            <a:r>
              <a:rPr lang="en-US" dirty="0"/>
              <a:t> </a:t>
            </a:r>
            <a:endParaRPr lang="fr-FR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33BF38-6AD9-2550-7C21-634198BF1F29}"/>
              </a:ext>
            </a:extLst>
          </p:cNvPr>
          <p:cNvSpPr txBox="1"/>
          <p:nvPr/>
        </p:nvSpPr>
        <p:spPr>
          <a:xfrm>
            <a:off x="8299527" y="2085062"/>
            <a:ext cx="3227294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SzPct val="50000"/>
              <a:buFont typeface="Wingdings" panose="05000000000000000000" pitchFamily="2" charset="2"/>
              <a:buChar char="Ø"/>
            </a:pPr>
            <a:r>
              <a:rPr lang="en-US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Asset universe</a:t>
            </a:r>
          </a:p>
          <a:p>
            <a:endParaRPr lang="en-US" sz="18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Top 300 S&amp;P 500 companies</a:t>
            </a:r>
            <a:endParaRPr lang="fr-FR" sz="16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8B884B-265F-71BD-D027-EF314F31E8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827" y="4236887"/>
            <a:ext cx="2600325" cy="17621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2BBEB2D-869C-1527-8CF7-B95562E2F4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8288" y="4302996"/>
            <a:ext cx="3264427" cy="162990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125F552-E9A1-6EC0-FC5F-9E01583DE9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9060" y="4326662"/>
            <a:ext cx="2852681" cy="1606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67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1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1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re 1">
            <a:extLst>
              <a:ext uri="{FF2B5EF4-FFF2-40B4-BE49-F238E27FC236}">
                <a16:creationId xmlns:a16="http://schemas.microsoft.com/office/drawing/2014/main" id="{4E3F5479-058B-4FA8-92E9-18CAB8CDC5C5}"/>
              </a:ext>
            </a:extLst>
          </p:cNvPr>
          <p:cNvSpPr txBox="1">
            <a:spLocks/>
          </p:cNvSpPr>
          <p:nvPr/>
        </p:nvSpPr>
        <p:spPr>
          <a:xfrm>
            <a:off x="4281641" y="390818"/>
            <a:ext cx="3628718" cy="775597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rtl="0"/>
            <a:r>
              <a:rPr lang="de-DE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UNIVERSE &amp; DATA</a:t>
            </a:r>
            <a:br>
              <a:rPr lang="fr-FR" sz="2800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endParaRPr lang="fr-FR" sz="2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B00FDF25-7676-C722-BC52-28C80146238F}"/>
              </a:ext>
            </a:extLst>
          </p:cNvPr>
          <p:cNvSpPr/>
          <p:nvPr/>
        </p:nvSpPr>
        <p:spPr>
          <a:xfrm>
            <a:off x="1558229" y="2739038"/>
            <a:ext cx="2281695" cy="2281695"/>
          </a:xfrm>
          <a:prstGeom prst="flowChartConnector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Flowchart: Connector 4">
            <a:extLst>
              <a:ext uri="{FF2B5EF4-FFF2-40B4-BE49-F238E27FC236}">
                <a16:creationId xmlns:a16="http://schemas.microsoft.com/office/drawing/2014/main" id="{1422A617-C801-2FBA-842F-CF555A34DFC1}"/>
              </a:ext>
            </a:extLst>
          </p:cNvPr>
          <p:cNvSpPr/>
          <p:nvPr/>
        </p:nvSpPr>
        <p:spPr>
          <a:xfrm>
            <a:off x="3186938" y="2728613"/>
            <a:ext cx="2281695" cy="2281695"/>
          </a:xfrm>
          <a:prstGeom prst="flowChartConnector">
            <a:avLst/>
          </a:prstGeom>
          <a:solidFill>
            <a:srgbClr val="00B0F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Flowchart: Connector 2">
            <a:extLst>
              <a:ext uri="{FF2B5EF4-FFF2-40B4-BE49-F238E27FC236}">
                <a16:creationId xmlns:a16="http://schemas.microsoft.com/office/drawing/2014/main" id="{A693B99E-D3E7-36B0-309B-610EA2215425}"/>
              </a:ext>
            </a:extLst>
          </p:cNvPr>
          <p:cNvSpPr/>
          <p:nvPr/>
        </p:nvSpPr>
        <p:spPr>
          <a:xfrm>
            <a:off x="2211213" y="1267111"/>
            <a:ext cx="2281695" cy="2281695"/>
          </a:xfrm>
          <a:prstGeom prst="flowChartConnector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8EF3BE-F69F-F88B-9CF5-7AFEB1F02BB5}"/>
              </a:ext>
            </a:extLst>
          </p:cNvPr>
          <p:cNvSpPr txBox="1"/>
          <p:nvPr/>
        </p:nvSpPr>
        <p:spPr>
          <a:xfrm>
            <a:off x="2810336" y="2157889"/>
            <a:ext cx="12371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S&amp;P 500</a:t>
            </a:r>
            <a:endParaRPr lang="fr-F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02E440-4600-986D-BE6E-1F4CCCB30393}"/>
              </a:ext>
            </a:extLst>
          </p:cNvPr>
          <p:cNvSpPr txBox="1"/>
          <p:nvPr/>
        </p:nvSpPr>
        <p:spPr>
          <a:xfrm>
            <a:off x="1908103" y="3517364"/>
            <a:ext cx="1219583" cy="662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Market cap &gt; $5B</a:t>
            </a:r>
            <a:endParaRPr lang="fr-FR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8962C1-1836-1D18-3882-8BEF23715A83}"/>
              </a:ext>
            </a:extLst>
          </p:cNvPr>
          <p:cNvSpPr txBox="1"/>
          <p:nvPr/>
        </p:nvSpPr>
        <p:spPr>
          <a:xfrm>
            <a:off x="3835010" y="3511743"/>
            <a:ext cx="1743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Average daily volume &gt; 500k</a:t>
            </a:r>
            <a:endParaRPr lang="fr-FR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F48811A-28F6-E9AF-E038-787C9937B572}"/>
              </a:ext>
            </a:extLst>
          </p:cNvPr>
          <p:cNvGrpSpPr/>
          <p:nvPr/>
        </p:nvGrpSpPr>
        <p:grpSpPr>
          <a:xfrm>
            <a:off x="1341917" y="2157889"/>
            <a:ext cx="2194560" cy="1158900"/>
            <a:chOff x="489473" y="1038113"/>
            <a:chExt cx="2194560" cy="2533426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D5EBB80-3AE7-5C9C-F471-31F1EDF13766}"/>
                </a:ext>
              </a:extLst>
            </p:cNvPr>
            <p:cNvCxnSpPr/>
            <p:nvPr/>
          </p:nvCxnSpPr>
          <p:spPr>
            <a:xfrm>
              <a:off x="500231" y="3571539"/>
              <a:ext cx="2183802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E406BEC-FEAF-5910-25CC-C94AE2A68840}"/>
                </a:ext>
              </a:extLst>
            </p:cNvPr>
            <p:cNvCxnSpPr/>
            <p:nvPr/>
          </p:nvCxnSpPr>
          <p:spPr>
            <a:xfrm flipV="1">
              <a:off x="489473" y="1038113"/>
              <a:ext cx="0" cy="253342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74F1DE0A-BE7D-A29A-BF8E-6198E0AA6245}"/>
              </a:ext>
            </a:extLst>
          </p:cNvPr>
          <p:cNvSpPr txBox="1"/>
          <p:nvPr/>
        </p:nvSpPr>
        <p:spPr>
          <a:xfrm>
            <a:off x="912400" y="1740076"/>
            <a:ext cx="1786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8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Universe</a:t>
            </a:r>
            <a:endParaRPr lang="fr-FR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5D8A4FE-9C13-879C-77B9-91BEEF54BA17}"/>
              </a:ext>
            </a:extLst>
          </p:cNvPr>
          <p:cNvSpPr txBox="1"/>
          <p:nvPr/>
        </p:nvSpPr>
        <p:spPr>
          <a:xfrm>
            <a:off x="7575795" y="1740076"/>
            <a:ext cx="3910405" cy="305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lnSpc>
                <a:spcPct val="115000"/>
              </a:lnSpc>
              <a:spcAft>
                <a:spcPts val="800"/>
              </a:spcAft>
              <a:buSzPct val="60000"/>
              <a:buFont typeface="Wingdings" panose="05000000000000000000" pitchFamily="2" charset="2"/>
              <a:buChar char="Ø"/>
              <a:tabLst>
                <a:tab pos="457200" algn="l"/>
              </a:tabLst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Data (from </a:t>
            </a:r>
            <a:r>
              <a:rPr lang="en-US" sz="18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yfinance</a:t>
            </a: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) </a:t>
            </a:r>
          </a:p>
          <a:p>
            <a:pPr marL="285750" lvl="0" indent="-285750">
              <a:lnSpc>
                <a:spcPct val="115000"/>
              </a:lnSpc>
              <a:spcAft>
                <a:spcPts val="800"/>
              </a:spcAft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Daily/weekly prices </a:t>
            </a:r>
          </a:p>
          <a:p>
            <a:pPr marL="285750" lvl="0" indent="-285750">
              <a:lnSpc>
                <a:spcPct val="115000"/>
              </a:lnSpc>
              <a:spcAft>
                <a:spcPts val="800"/>
              </a:spcAft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undamentals: P/E, P/B, EV/EBITDA, ROE, Debt/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quity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en-US" sz="18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indent="-285750">
              <a:buSzPct val="60000"/>
              <a:buFont typeface="Wingdings" panose="05000000000000000000" pitchFamily="2" charset="2"/>
              <a:buChar char="Ø"/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Frequency</a:t>
            </a:r>
            <a:b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Quarterly fundamentals, daily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prices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997151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7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7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750" fill="hold"/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750" fill="hold"/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750" fill="hold"/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750" fill="hold"/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750" fill="hold"/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750" fill="hold"/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750" fill="hold"/>
                                        <p:tgtEl>
                                          <p:spTgt spid="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750" fill="hold"/>
                                        <p:tgtEl>
                                          <p:spTgt spid="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5" grpId="0" animBg="1"/>
      <p:bldP spid="3" grpId="0" animBg="1"/>
      <p:bldP spid="9" grpId="0"/>
      <p:bldP spid="10" grpId="0"/>
      <p:bldP spid="12" grpId="0"/>
      <p:bldP spid="35" grpId="0"/>
      <p:bldP spid="3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E1F6F16-AC0E-190A-96DD-51FC9C311394}"/>
              </a:ext>
            </a:extLst>
          </p:cNvPr>
          <p:cNvSpPr txBox="1"/>
          <p:nvPr/>
        </p:nvSpPr>
        <p:spPr>
          <a:xfrm>
            <a:off x="1113824" y="2338840"/>
            <a:ext cx="7214617" cy="23760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Value factors: </a:t>
            </a:r>
            <a:r>
              <a:rPr lang="en-US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Low P/E, low EV/EBITDA, low P/B</a:t>
            </a:r>
            <a:endParaRPr lang="fr-FR" sz="2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Quality factors: </a:t>
            </a:r>
            <a:r>
              <a:rPr lang="en-US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High ROE, low debt/equity</a:t>
            </a:r>
            <a:endParaRPr lang="fr-FR" sz="2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Momentum filter: </a:t>
            </a:r>
            <a:r>
              <a:rPr lang="en-US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Only select stocks with 	positive 3 and 12-month price momentum.</a:t>
            </a:r>
            <a:endParaRPr lang="fr-FR" sz="2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ABC202-3F61-4B28-908C-56E7D4F14637}"/>
              </a:ext>
            </a:extLst>
          </p:cNvPr>
          <p:cNvSpPr txBox="1"/>
          <p:nvPr/>
        </p:nvSpPr>
        <p:spPr>
          <a:xfrm>
            <a:off x="3863559" y="351963"/>
            <a:ext cx="4464882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SIGNAL DISIGN </a:t>
            </a:r>
            <a:r>
              <a:rPr lang="el-GR" sz="2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(Alpha)</a:t>
            </a:r>
            <a:endParaRPr lang="fr-FR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DE521D-76D5-A9D9-9A72-554E04C676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8875" y="4714875"/>
            <a:ext cx="2143125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895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918B75-F012-67A5-8371-15FCAC8D032A}"/>
              </a:ext>
            </a:extLst>
          </p:cNvPr>
          <p:cNvSpPr txBox="1"/>
          <p:nvPr/>
        </p:nvSpPr>
        <p:spPr>
          <a:xfrm>
            <a:off x="270511" y="1855694"/>
            <a:ext cx="5214321" cy="16585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lvl="0" indent="-285750">
              <a:lnSpc>
                <a:spcPct val="115000"/>
              </a:lnSpc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l-G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Long </a:t>
            </a:r>
            <a:r>
              <a:rPr lang="el-GR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top</a:t>
            </a:r>
            <a:r>
              <a:rPr lang="el-G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20 ranked stocks.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lvl="0" indent="-285750">
              <a:lnSpc>
                <a:spcPct val="115000"/>
              </a:lnSpc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5% to each position</a:t>
            </a:r>
          </a:p>
          <a:p>
            <a:pPr marL="285750" lvl="0" indent="-285750">
              <a:lnSpc>
                <a:spcPct val="115000"/>
              </a:lnSpc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Equal weight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5B2D307E-D2E3-B0D2-14FD-36DDEE6A1C5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67360999"/>
              </p:ext>
            </p:extLst>
          </p:nvPr>
        </p:nvGraphicFramePr>
        <p:xfrm>
          <a:off x="2739838" y="691171"/>
          <a:ext cx="9133242" cy="57598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7CBBB1C-BA3A-CF92-4149-57B1F45A709E}"/>
              </a:ext>
            </a:extLst>
          </p:cNvPr>
          <p:cNvSpPr txBox="1"/>
          <p:nvPr/>
        </p:nvSpPr>
        <p:spPr>
          <a:xfrm>
            <a:off x="3382500" y="407005"/>
            <a:ext cx="542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dirty="0">
                <a:latin typeface="Aptos" panose="020B0004020202020204" pitchFamily="34" charset="0"/>
              </a:rPr>
              <a:t>PORTOFOLIO CONSTRUCTION</a:t>
            </a:r>
            <a:endParaRPr lang="fr-FR" sz="2800" b="1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140597-3BAF-73B0-9ADA-6B5D28AE5C61}"/>
              </a:ext>
            </a:extLst>
          </p:cNvPr>
          <p:cNvSpPr txBox="1"/>
          <p:nvPr/>
        </p:nvSpPr>
        <p:spPr>
          <a:xfrm>
            <a:off x="270511" y="4799607"/>
            <a:ext cx="41385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Rebalance</a:t>
            </a:r>
            <a:r>
              <a:rPr lang="el-GR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semi-annually</a:t>
            </a:r>
            <a:r>
              <a:rPr lang="de-DE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and </a:t>
            </a:r>
            <a:r>
              <a:rPr lang="de-DE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whe</a:t>
            </a:r>
            <a:r>
              <a:rPr lang="de-DE" dirty="0" err="1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</a:t>
            </a:r>
            <a:r>
              <a:rPr lang="de-DE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s</a:t>
            </a:r>
            <a:r>
              <a:rPr lang="en-US" dirty="0">
                <a:latin typeface="Aptos" panose="020B0004020202020204" pitchFamily="34" charset="0"/>
              </a:rPr>
              <a:t>tock is no more part of the S&amp;P 500 we replace it according to our strategy 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43390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>
        <p:bldAsOne/>
      </p:bldGraphic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0E56C4-589C-9FE6-2F51-89E75523B498}"/>
              </a:ext>
            </a:extLst>
          </p:cNvPr>
          <p:cNvSpPr txBox="1"/>
          <p:nvPr/>
        </p:nvSpPr>
        <p:spPr>
          <a:xfrm>
            <a:off x="1147482" y="1999681"/>
            <a:ext cx="4948518" cy="31618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Stop-loss: deterioration in fundamentals.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endParaRPr lang="fr-FR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l-G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Max 30% exposure per sector.</a:t>
            </a:r>
            <a:endParaRPr lang="de-DE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Track: max drawdown, Sharpe ratio, beta vs S&amp;P 500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en-US" sz="18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A265E5-2326-7FB4-FD5E-479745A7781C}"/>
              </a:ext>
            </a:extLst>
          </p:cNvPr>
          <p:cNvSpPr txBox="1"/>
          <p:nvPr/>
        </p:nvSpPr>
        <p:spPr>
          <a:xfrm>
            <a:off x="4950759" y="500230"/>
            <a:ext cx="23666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latin typeface="Aptos" panose="020B0004020202020204" pitchFamily="34" charset="0"/>
              </a:rPr>
              <a:t>RISK MANAGEMENT</a:t>
            </a:r>
            <a:endParaRPr lang="fr-FR" b="1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5643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4E5984-0385-EB90-C885-D4D4805EF6D3}"/>
              </a:ext>
            </a:extLst>
          </p:cNvPr>
          <p:cNvSpPr txBox="1"/>
          <p:nvPr/>
        </p:nvSpPr>
        <p:spPr>
          <a:xfrm>
            <a:off x="1586385" y="2190929"/>
            <a:ext cx="4547715" cy="3009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l-GR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Period:</a:t>
            </a:r>
            <a:r>
              <a:rPr lang="el-G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l-GR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Last</a:t>
            </a:r>
            <a:r>
              <a:rPr lang="el-G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20</a:t>
            </a:r>
            <a:r>
              <a:rPr lang="el-G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l-GR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years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Benchmark: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S&amp;P 500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Metrics: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Annualized return, Annualized Volatility, Sharpe ratio, Max Drawdown, Var, CVar 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Stress test during market crises (2008, 2020).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fr-F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0B7651-B80D-F291-4A1D-1DD563DE679D}"/>
              </a:ext>
            </a:extLst>
          </p:cNvPr>
          <p:cNvSpPr txBox="1"/>
          <p:nvPr/>
        </p:nvSpPr>
        <p:spPr>
          <a:xfrm>
            <a:off x="4364467" y="537882"/>
            <a:ext cx="3752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latin typeface="Aptos" panose="020B0004020202020204" pitchFamily="34" charset="0"/>
              </a:rPr>
              <a:t>BACKTESTING &amp; PERFORMANCE</a:t>
            </a:r>
            <a:endParaRPr lang="fr-FR" b="1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6389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CF369F8-A45E-A725-B2B9-BCAFAADCD144}"/>
              </a:ext>
            </a:extLst>
          </p:cNvPr>
          <p:cNvSpPr txBox="1"/>
          <p:nvPr/>
        </p:nvSpPr>
        <p:spPr>
          <a:xfrm>
            <a:off x="4219911" y="458369"/>
            <a:ext cx="37521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800" b="1" dirty="0">
                <a:latin typeface="Aptos" panose="020B0004020202020204" pitchFamily="34" charset="0"/>
              </a:rPr>
              <a:t>Potential </a:t>
            </a:r>
            <a:r>
              <a:rPr lang="de-DE" sz="2800" b="1" dirty="0" err="1">
                <a:latin typeface="Aptos" panose="020B0004020202020204" pitchFamily="34" charset="0"/>
              </a:rPr>
              <a:t>Risks</a:t>
            </a:r>
            <a:endParaRPr lang="fr-FR" sz="2800" b="1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877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n a black background&#10;&#10;AI-generated content may be incorrect.">
            <a:extLst>
              <a:ext uri="{FF2B5EF4-FFF2-40B4-BE49-F238E27FC236}">
                <a16:creationId xmlns:a16="http://schemas.microsoft.com/office/drawing/2014/main" id="{D8832100-A4C3-CB01-F717-F39D65F074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9" y="228593"/>
            <a:ext cx="10972822" cy="6400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829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n a black background&#10;&#10;AI-generated content may be incorrect.">
            <a:extLst>
              <a:ext uri="{FF2B5EF4-FFF2-40B4-BE49-F238E27FC236}">
                <a16:creationId xmlns:a16="http://schemas.microsoft.com/office/drawing/2014/main" id="{F843252F-0DBB-F913-780E-9D1A414962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9" y="228593"/>
            <a:ext cx="10972822" cy="6400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926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with blue and orange lines&#10;&#10;AI-generated content may be incorrect.">
            <a:extLst>
              <a:ext uri="{FF2B5EF4-FFF2-40B4-BE49-F238E27FC236}">
                <a16:creationId xmlns:a16="http://schemas.microsoft.com/office/drawing/2014/main" id="{01E86EFA-8DEB-D0B3-3FEF-2F5DB205E5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9" y="228593"/>
            <a:ext cx="10972822" cy="6400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521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ll/>
      </p:transition>
    </mc:Choice>
    <mc:Fallback xmlns="">
      <p:transition spd="slow">
        <p:pull/>
      </p:transition>
    </mc:Fallback>
  </mc:AlternateContent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237</TotalTime>
  <Words>326</Words>
  <Application>Microsoft Office PowerPoint</Application>
  <PresentationFormat>Widescreen</PresentationFormat>
  <Paragraphs>63</Paragraphs>
  <Slides>12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Aptos</vt:lpstr>
      <vt:lpstr>Arial</vt:lpstr>
      <vt:lpstr>Calibri</vt:lpstr>
      <vt:lpstr>Calibri Light</vt:lpstr>
      <vt:lpstr>Symbol</vt:lpstr>
      <vt:lpstr>Wingdings</vt:lpstr>
      <vt:lpstr>Retrospect</vt:lpstr>
      <vt:lpstr>Value-Quality-Momentum Strategy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Kofi Yigbe</dc:creator>
  <cp:lastModifiedBy>GEORGIOS MOSCHOVIS</cp:lastModifiedBy>
  <cp:revision>12</cp:revision>
  <dcterms:created xsi:type="dcterms:W3CDTF">2025-11-16T21:40:45Z</dcterms:created>
  <dcterms:modified xsi:type="dcterms:W3CDTF">2025-11-19T20:20:06Z</dcterms:modified>
</cp:coreProperties>
</file>