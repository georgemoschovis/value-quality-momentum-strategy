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drawings/drawing1.xml" ContentType="application/vnd.openxmlformats-officedocument.drawingml.chartshape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notesMasterIdLst>
    <p:notesMasterId r:id="rId18"/>
  </p:notesMasterIdLst>
  <p:handoutMasterIdLst>
    <p:handoutMasterId r:id="rId19"/>
  </p:handoutMasterIdLst>
  <p:sldIdLst>
    <p:sldId id="256" r:id="rId2"/>
    <p:sldId id="289" r:id="rId3"/>
    <p:sldId id="290" r:id="rId4"/>
    <p:sldId id="276" r:id="rId5"/>
    <p:sldId id="291" r:id="rId6"/>
    <p:sldId id="292" r:id="rId7"/>
    <p:sldId id="298" r:id="rId8"/>
    <p:sldId id="293" r:id="rId9"/>
    <p:sldId id="294" r:id="rId10"/>
    <p:sldId id="295" r:id="rId11"/>
    <p:sldId id="300" r:id="rId12"/>
    <p:sldId id="296" r:id="rId13"/>
    <p:sldId id="297" r:id="rId14"/>
    <p:sldId id="299" r:id="rId15"/>
    <p:sldId id="302" r:id="rId16"/>
    <p:sldId id="30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19" userDrawn="1">
          <p15:clr>
            <a:srgbClr val="A4A3A4"/>
          </p15:clr>
        </p15:guide>
        <p15:guide id="2" pos="3864" userDrawn="1">
          <p15:clr>
            <a:srgbClr val="A4A3A4"/>
          </p15:clr>
        </p15:guide>
        <p15:guide id="3" pos="7512" userDrawn="1">
          <p15:clr>
            <a:srgbClr val="A4A3A4"/>
          </p15:clr>
        </p15:guide>
        <p15:guide id="4" pos="143" userDrawn="1">
          <p15:clr>
            <a:srgbClr val="A4A3A4"/>
          </p15:clr>
        </p15:guide>
        <p15:guide id="5" orient="horz" pos="624" userDrawn="1">
          <p15:clr>
            <a:srgbClr val="A4A3A4"/>
          </p15:clr>
        </p15:guide>
        <p15:guide id="6" orient="horz" pos="40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15" autoAdjust="0"/>
    <p:restoredTop sz="56206" autoAdjust="0"/>
  </p:normalViewPr>
  <p:slideViewPr>
    <p:cSldViewPr snapToGrid="0" showGuides="1">
      <p:cViewPr varScale="1">
        <p:scale>
          <a:sx n="46" d="100"/>
          <a:sy n="46" d="100"/>
        </p:scale>
        <p:origin x="2002" y="43"/>
      </p:cViewPr>
      <p:guideLst>
        <p:guide orient="horz" pos="2319"/>
        <p:guide pos="3864"/>
        <p:guide pos="7512"/>
        <p:guide pos="143"/>
        <p:guide orient="horz" pos="624"/>
        <p:guide orient="horz" pos="4056"/>
      </p:guideLst>
    </p:cSldViewPr>
  </p:slideViewPr>
  <p:notesTextViewPr>
    <p:cViewPr>
      <p:scale>
        <a:sx n="400" d="100"/>
        <a:sy n="4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71" d="100"/>
          <a:sy n="71" d="100"/>
        </p:scale>
        <p:origin x="2676" y="2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5" Type="http://schemas.openxmlformats.org/officeDocument/2006/relationships/chartUserShapes" Target="../drawings/drawing1.xml"/><Relationship Id="rId4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Sheet1!$M$4</c:f>
              <c:strCache>
                <c:ptCount val="1"/>
                <c:pt idx="0">
                  <c:v>Position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3E8-4A5E-9B40-B41533CC62D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3E8-4A5E-9B40-B41533CC62D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F3E8-4A5E-9B40-B41533CC62D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F3E8-4A5E-9B40-B41533CC62DB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F3E8-4A5E-9B40-B41533CC62DB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F3E8-4A5E-9B40-B41533CC62DB}"/>
              </c:ext>
            </c:extLst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F3E8-4A5E-9B40-B41533CC62DB}"/>
              </c:ext>
            </c:extLst>
          </c:dPt>
          <c:dPt>
            <c:idx val="7"/>
            <c:bubble3D val="0"/>
            <c:spPr>
              <a:solidFill>
                <a:schemeClr val="accent2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F-F3E8-4A5E-9B40-B41533CC62DB}"/>
              </c:ext>
            </c:extLst>
          </c:dPt>
          <c:dPt>
            <c:idx val="8"/>
            <c:bubble3D val="0"/>
            <c:spPr>
              <a:solidFill>
                <a:schemeClr val="accent3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1-F3E8-4A5E-9B40-B41533CC62DB}"/>
              </c:ext>
            </c:extLst>
          </c:dPt>
          <c:dPt>
            <c:idx val="9"/>
            <c:bubble3D val="0"/>
            <c:spPr>
              <a:solidFill>
                <a:schemeClr val="accent4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3-F3E8-4A5E-9B40-B41533CC62DB}"/>
              </c:ext>
            </c:extLst>
          </c:dPt>
          <c:dPt>
            <c:idx val="10"/>
            <c:bubble3D val="0"/>
            <c:spPr>
              <a:solidFill>
                <a:schemeClr val="accent5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5-F3E8-4A5E-9B40-B41533CC62DB}"/>
              </c:ext>
            </c:extLst>
          </c:dPt>
          <c:dPt>
            <c:idx val="11"/>
            <c:bubble3D val="0"/>
            <c:spPr>
              <a:solidFill>
                <a:schemeClr val="accent6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7-F3E8-4A5E-9B40-B41533CC62DB}"/>
              </c:ext>
            </c:extLst>
          </c:dPt>
          <c:dPt>
            <c:idx val="12"/>
            <c:bubble3D val="0"/>
            <c:spPr>
              <a:solidFill>
                <a:schemeClr val="accent1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9-F3E8-4A5E-9B40-B41533CC62DB}"/>
              </c:ext>
            </c:extLst>
          </c:dPt>
          <c:dPt>
            <c:idx val="13"/>
            <c:bubble3D val="0"/>
            <c:spPr>
              <a:solidFill>
                <a:schemeClr val="accent2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B-F3E8-4A5E-9B40-B41533CC62DB}"/>
              </c:ext>
            </c:extLst>
          </c:dPt>
          <c:dPt>
            <c:idx val="14"/>
            <c:bubble3D val="0"/>
            <c:spPr>
              <a:solidFill>
                <a:schemeClr val="accent3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D-F3E8-4A5E-9B40-B41533CC62DB}"/>
              </c:ext>
            </c:extLst>
          </c:dPt>
          <c:dPt>
            <c:idx val="15"/>
            <c:bubble3D val="0"/>
            <c:spPr>
              <a:solidFill>
                <a:schemeClr val="accent4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F-F3E8-4A5E-9B40-B41533CC62DB}"/>
              </c:ext>
            </c:extLst>
          </c:dPt>
          <c:dPt>
            <c:idx val="16"/>
            <c:bubble3D val="0"/>
            <c:spPr>
              <a:solidFill>
                <a:schemeClr val="accent5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1-F3E8-4A5E-9B40-B41533CC62DB}"/>
              </c:ext>
            </c:extLst>
          </c:dPt>
          <c:dPt>
            <c:idx val="17"/>
            <c:bubble3D val="0"/>
            <c:spPr>
              <a:solidFill>
                <a:schemeClr val="accent6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3-F3E8-4A5E-9B40-B41533CC62DB}"/>
              </c:ext>
            </c:extLst>
          </c:dPt>
          <c:dPt>
            <c:idx val="18"/>
            <c:bubble3D val="0"/>
            <c:spPr>
              <a:solidFill>
                <a:schemeClr val="accent1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5-F3E8-4A5E-9B40-B41533CC62DB}"/>
              </c:ext>
            </c:extLst>
          </c:dPt>
          <c:dPt>
            <c:idx val="19"/>
            <c:bubble3D val="0"/>
            <c:spPr>
              <a:solidFill>
                <a:schemeClr val="accent2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7-F3E8-4A5E-9B40-B41533CC62DB}"/>
              </c:ext>
            </c:extLst>
          </c:dPt>
          <c:dLbls>
            <c:dLbl>
              <c:idx val="16"/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900" b="0" i="0" u="none" strike="noStrike" kern="1200" baseline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fld id="{81DE898A-9B65-42AB-8FFD-5330BBF439CE}" type="VALUE">
                      <a:rPr lang="en-US">
                        <a:solidFill>
                          <a:schemeClr val="bg1"/>
                        </a:solidFill>
                      </a:rPr>
                      <a:pPr>
                        <a:defRPr>
                          <a:solidFill>
                            <a:schemeClr val="bg1"/>
                          </a:solidFill>
                        </a:defRPr>
                      </a:pPr>
                      <a:t>[VALUE]</a:t>
                    </a:fld>
                    <a:endParaRPr lang="en-US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9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1.9405838969397526E-2"/>
                      <c:h val="2.1936714574533521E-2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21-F3E8-4A5E-9B40-B41533CC62D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Sheet1!$L$5:$L$24</c:f>
              <c:strCache>
                <c:ptCount val="20"/>
                <c:pt idx="0">
                  <c:v>Stock 1</c:v>
                </c:pt>
                <c:pt idx="1">
                  <c:v>Stock 2</c:v>
                </c:pt>
                <c:pt idx="2">
                  <c:v>Stock 3</c:v>
                </c:pt>
                <c:pt idx="3">
                  <c:v>Stock 4</c:v>
                </c:pt>
                <c:pt idx="4">
                  <c:v>Stock 5</c:v>
                </c:pt>
                <c:pt idx="5">
                  <c:v>Stock 6</c:v>
                </c:pt>
                <c:pt idx="6">
                  <c:v>Stock 7</c:v>
                </c:pt>
                <c:pt idx="7">
                  <c:v>Stock 8</c:v>
                </c:pt>
                <c:pt idx="8">
                  <c:v>Stock 9</c:v>
                </c:pt>
                <c:pt idx="9">
                  <c:v>Stock 10</c:v>
                </c:pt>
                <c:pt idx="10">
                  <c:v>Stock 11</c:v>
                </c:pt>
                <c:pt idx="11">
                  <c:v>Stock 12</c:v>
                </c:pt>
                <c:pt idx="12">
                  <c:v>Stock 13</c:v>
                </c:pt>
                <c:pt idx="13">
                  <c:v>Stock 14</c:v>
                </c:pt>
                <c:pt idx="14">
                  <c:v>Stock 15</c:v>
                </c:pt>
                <c:pt idx="15">
                  <c:v>Stock 16</c:v>
                </c:pt>
                <c:pt idx="16">
                  <c:v>Stock 17</c:v>
                </c:pt>
                <c:pt idx="17">
                  <c:v>Stock 18</c:v>
                </c:pt>
                <c:pt idx="18">
                  <c:v>Stock 19</c:v>
                </c:pt>
                <c:pt idx="19">
                  <c:v>Stock 20</c:v>
                </c:pt>
              </c:strCache>
            </c:strRef>
          </c:cat>
          <c:val>
            <c:numRef>
              <c:f>Sheet1!$M$5:$M$24</c:f>
              <c:numCache>
                <c:formatCode>0%</c:formatCode>
                <c:ptCount val="20"/>
                <c:pt idx="0">
                  <c:v>0.05</c:v>
                </c:pt>
                <c:pt idx="1">
                  <c:v>0.05</c:v>
                </c:pt>
                <c:pt idx="2">
                  <c:v>0.05</c:v>
                </c:pt>
                <c:pt idx="3">
                  <c:v>0.05</c:v>
                </c:pt>
                <c:pt idx="4">
                  <c:v>0.05</c:v>
                </c:pt>
                <c:pt idx="5">
                  <c:v>0.05</c:v>
                </c:pt>
                <c:pt idx="6">
                  <c:v>0.05</c:v>
                </c:pt>
                <c:pt idx="7">
                  <c:v>0.05</c:v>
                </c:pt>
                <c:pt idx="8">
                  <c:v>0.05</c:v>
                </c:pt>
                <c:pt idx="9">
                  <c:v>0.05</c:v>
                </c:pt>
                <c:pt idx="10">
                  <c:v>0.05</c:v>
                </c:pt>
                <c:pt idx="11">
                  <c:v>0.05</c:v>
                </c:pt>
                <c:pt idx="12">
                  <c:v>0.05</c:v>
                </c:pt>
                <c:pt idx="13">
                  <c:v>0.05</c:v>
                </c:pt>
                <c:pt idx="14">
                  <c:v>0.05</c:v>
                </c:pt>
                <c:pt idx="15">
                  <c:v>0.05</c:v>
                </c:pt>
                <c:pt idx="16">
                  <c:v>0.05</c:v>
                </c:pt>
                <c:pt idx="17">
                  <c:v>0.05</c:v>
                </c:pt>
                <c:pt idx="18">
                  <c:v>0.05</c:v>
                </c:pt>
                <c:pt idx="19">
                  <c:v>0.05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8-F3E8-4A5E-9B40-B41533CC62D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4">
    <c:autoUpdate val="0"/>
  </c:externalData>
  <c:userShapes r:id="rId5"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0.7461</cdr:x>
      <cdr:y>0.25438</cdr:y>
    </cdr:from>
    <cdr:to>
      <cdr:x>1</cdr:x>
      <cdr:y>0.33318</cdr:y>
    </cdr:to>
    <cdr:sp macro="" textlink="">
      <cdr:nvSpPr>
        <cdr:cNvPr id="2" name="TextBox 1">
          <a:extLst xmlns:a="http://schemas.openxmlformats.org/drawingml/2006/main">
            <a:ext uri="{FF2B5EF4-FFF2-40B4-BE49-F238E27FC236}">
              <a16:creationId xmlns:a16="http://schemas.microsoft.com/office/drawing/2014/main" id="{839B0E48-844D-5272-96E9-25822D135CCC}"/>
            </a:ext>
          </a:extLst>
        </cdr:cNvPr>
        <cdr:cNvSpPr txBox="1"/>
      </cdr:nvSpPr>
      <cdr:spPr>
        <a:xfrm xmlns:a="http://schemas.openxmlformats.org/drawingml/2006/main">
          <a:off x="4138928" y="1066860"/>
          <a:ext cx="1408471" cy="330486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vertOverflow="clip" wrap="square" rtlCol="0"/>
        <a:lstStyle xmlns:a="http://schemas.openxmlformats.org/drawingml/2006/main"/>
        <a:p xmlns:a="http://schemas.openxmlformats.org/drawingml/2006/main">
          <a:endParaRPr lang="fr-FR" sz="1050" dirty="0">
            <a:solidFill>
              <a:schemeClr val="tx1"/>
            </a:solidFill>
          </a:endParaRPr>
        </a:p>
      </cdr:txBody>
    </cdr:sp>
  </cdr:relSizeAnchor>
</c:userShape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>
            <a:extLst>
              <a:ext uri="{FF2B5EF4-FFF2-40B4-BE49-F238E27FC236}">
                <a16:creationId xmlns:a16="http://schemas.microsoft.com/office/drawing/2014/main" id="{B46527B0-0B24-4087-B225-DB4F5C738F6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72798E0-F322-4236-8531-A1882BFE400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D6FB0DE1-D418-4EA9-BDFD-2E5632763663}" type="datetime1">
              <a:rPr lang="fr-FR" smtClean="0"/>
              <a:t>20/11/2025</a:t>
            </a:fld>
            <a:endParaRPr lang="en-US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4E5881F-2FD0-41BC-8E76-C691E59E146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2CA62C5-8A29-4592-9E3E-4C457F263C0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B4E85F6F-0FAD-4AD4-850C-7E4CD14D7D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274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190BD304-4DB2-4DA8-BE69-274C9984CC7A}" type="datetime1">
              <a:rPr lang="fr-FR" smtClean="0"/>
              <a:t>20/11/2025</a:t>
            </a:fld>
            <a:endParaRPr lang="en-US" dirty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"/>
              <a:t>Modifiez les styles du texte du masque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BE60DC36-8EFA-4378-9855-E019C55AC47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70536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BE60DC36-8EFA-4378-9855-E019C55AC472}" type="slidenum">
              <a:rPr lang="fr-FR" smtClean="0"/>
              <a:t>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790740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E60DC36-8EFA-4378-9855-E019C55AC47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43209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n-US" dirty="0"/>
          </a:p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BE60DC36-8EFA-4378-9855-E019C55AC472}" type="slidenum">
              <a:rPr lang="fr-FR" smtClean="0"/>
              <a:t>4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975797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E60DC36-8EFA-4378-9855-E019C55AC47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7324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E60DC36-8EFA-4378-9855-E019C55AC47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23566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E60DC36-8EFA-4378-9855-E019C55AC47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79720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E60DC36-8EFA-4378-9855-E019C55AC47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84690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E60DC36-8EFA-4378-9855-E019C55AC47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09822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E60DC36-8EFA-4378-9855-E019C55AC47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47892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20/11/2025</a:t>
            </a:fld>
            <a:endParaRPr lang="fr-FR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1025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2548037"/>
            <a:ext cx="1005840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234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20/11/2025</a:t>
            </a:fld>
            <a:endParaRPr lang="fr-FR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481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20/11/2025</a:t>
            </a:fld>
            <a:endParaRPr lang="fr-FR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525089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20/11/2025</a:t>
            </a:fld>
            <a:endParaRPr lang="fr-FR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620007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20/11/2025</a:t>
            </a:fld>
            <a:endParaRPr lang="fr-FR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4027935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20/11/2025</a:t>
            </a:fld>
            <a:endParaRPr lang="fr-FR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rtl="0"/>
            <a:endParaRPr lang="fr-FR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1054656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pPr rtl="0"/>
            <a:fld id="{78CE1DC9-D956-40C2-BAC4-4037E3AB19CC}" type="datetime1">
              <a:rPr lang="fr-FR" noProof="0" smtClean="0"/>
              <a:t>20/11/2025</a:t>
            </a:fld>
            <a:endParaRPr lang="fr-FR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fr-FR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4121565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20/11/2025</a:t>
            </a:fld>
            <a:endParaRPr lang="fr-FR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574319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20/11/2025</a:t>
            </a:fld>
            <a:endParaRPr lang="fr-FR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2237742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20/11/2025</a:t>
            </a:fld>
            <a:endParaRPr lang="fr-FR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537301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pPr rtl="0"/>
            <a:fld id="{78CE1DC9-D956-40C2-BAC4-4037E3AB19CC}" type="datetime1">
              <a:rPr lang="fr-FR" noProof="0" smtClean="0"/>
              <a:t>20/11/2025</a:t>
            </a:fld>
            <a:endParaRPr lang="fr-FR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pPr rtl="0"/>
            <a:endParaRPr lang="fr-FR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150950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ithub.com/GeorgeMoschovis/Value-Quality-Momentum-Strategy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pct5">
          <a:fgClr>
            <a:schemeClr val="bg1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300AEF-1595-4419-801B-6E36A33BB8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17089" y="990600"/>
            <a:ext cx="7357822" cy="479683"/>
          </a:xfrm>
        </p:spPr>
        <p:txBody>
          <a:bodyPr wrap="square" lIns="0" tIns="0" rIns="0" bIns="0" rtlCol="0" anchor="t">
            <a:spAutoFit/>
          </a:bodyPr>
          <a:lstStyle/>
          <a:p>
            <a:pPr algn="ctr" rtl="0"/>
            <a:r>
              <a:rPr lang="en-US" sz="36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Value-Quality-Momentum Strategy</a:t>
            </a:r>
            <a:endParaRPr lang="fr-FR" sz="3600" b="1" dirty="0">
              <a:solidFill>
                <a:schemeClr val="accent4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BB5967-0A46-EF72-36C7-63C8B3DF0637}"/>
              </a:ext>
            </a:extLst>
          </p:cNvPr>
          <p:cNvSpPr txBox="1"/>
          <p:nvPr/>
        </p:nvSpPr>
        <p:spPr>
          <a:xfrm>
            <a:off x="713709" y="5955280"/>
            <a:ext cx="51087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dirty="0">
                <a:latin typeface="Aptos" panose="020B0004020202020204" pitchFamily="34" charset="0"/>
              </a:rPr>
              <a:t>George Moschovis &amp; Florent Yigbe</a:t>
            </a:r>
          </a:p>
          <a:p>
            <a:r>
              <a:rPr lang="de-DE" sz="1200" b="1" dirty="0">
                <a:latin typeface="Aptos" panose="020B0004020202020204" pitchFamily="34" charset="0"/>
              </a:rPr>
              <a:t>G_5 Gamma Gurus</a:t>
            </a:r>
            <a:endParaRPr lang="fr-FR" sz="1200" b="1" dirty="0">
              <a:latin typeface="Aptos" panose="020B0004020202020204" pitchFamily="34" charset="0"/>
            </a:endParaRPr>
          </a:p>
        </p:txBody>
      </p:sp>
      <p:pic>
        <p:nvPicPr>
          <p:cNvPr id="8" name="Picture 7" descr="A white silhouette of a deer&#10;&#10;AI-generated content may be incorrect.">
            <a:extLst>
              <a:ext uri="{FF2B5EF4-FFF2-40B4-BE49-F238E27FC236}">
                <a16:creationId xmlns:a16="http://schemas.microsoft.com/office/drawing/2014/main" id="{12430D4B-791D-6761-6596-1B65C1767B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0870" y="2794267"/>
            <a:ext cx="1602505" cy="16025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146466F-29D4-0C67-FB2E-338D8F7490CA}"/>
              </a:ext>
            </a:extLst>
          </p:cNvPr>
          <p:cNvSpPr txBox="1"/>
          <p:nvPr/>
        </p:nvSpPr>
        <p:spPr>
          <a:xfrm>
            <a:off x="7732457" y="5955279"/>
            <a:ext cx="60947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Hedge Fund Club </a:t>
            </a:r>
            <a:r>
              <a:rPr lang="fr-FR" sz="12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- </a:t>
            </a:r>
            <a:r>
              <a:rPr lang="fr-FR" sz="1200" b="1" dirty="0" err="1">
                <a:latin typeface="Aptos" panose="020B0004020202020204" pitchFamily="34" charset="0"/>
              </a:rPr>
              <a:t>Universität</a:t>
            </a:r>
            <a:r>
              <a:rPr lang="fr-FR" sz="1200" b="1" dirty="0">
                <a:latin typeface="Aptos" panose="020B0004020202020204" pitchFamily="34" charset="0"/>
              </a:rPr>
              <a:t> Mannheim &amp; Prime Capital</a:t>
            </a:r>
          </a:p>
          <a:p>
            <a:r>
              <a:rPr lang="fr-FR" sz="1200" b="1" dirty="0">
                <a:latin typeface="Aptos" panose="020B0004020202020204" pitchFamily="34" charset="0"/>
              </a:rPr>
              <a:t>20.11.2025</a:t>
            </a:r>
          </a:p>
        </p:txBody>
      </p:sp>
    </p:spTree>
    <p:extLst>
      <p:ext uri="{BB962C8B-B14F-4D97-AF65-F5344CB8AC3E}">
        <p14:creationId xmlns:p14="http://schemas.microsoft.com/office/powerpoint/2010/main" val="2387849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51F878-DDA6-95D7-B618-E811B607189D}"/>
              </a:ext>
            </a:extLst>
          </p:cNvPr>
          <p:cNvSpPr txBox="1"/>
          <p:nvPr/>
        </p:nvSpPr>
        <p:spPr>
          <a:xfrm>
            <a:off x="4893833" y="667434"/>
            <a:ext cx="24043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>
                <a:latin typeface="Aptos" panose="020B0004020202020204" pitchFamily="34" charset="0"/>
              </a:rPr>
              <a:t>SUMMARY</a:t>
            </a:r>
            <a:endParaRPr lang="fr-FR" sz="3600" b="1" dirty="0">
              <a:latin typeface="Aptos" panose="020B00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B13582-0E75-558D-2C33-40CBC8A31CF0}"/>
              </a:ext>
            </a:extLst>
          </p:cNvPr>
          <p:cNvSpPr txBox="1"/>
          <p:nvPr/>
        </p:nvSpPr>
        <p:spPr>
          <a:xfrm>
            <a:off x="1146514" y="1834753"/>
            <a:ext cx="48006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sz="1800" b="1" dirty="0">
                <a:latin typeface="Aptos" panose="020B0004020202020204" pitchFamily="34" charset="0"/>
              </a:rPr>
              <a:t>CORE IDEA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de-DE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UNIVERSE &amp; DATA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de-DE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SIGNAL DISIGN </a:t>
            </a:r>
            <a:r>
              <a:rPr lang="el-GR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(Alpha)</a:t>
            </a:r>
            <a:endParaRPr lang="de-DE" sz="18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de-DE" sz="1800" b="1" dirty="0">
                <a:latin typeface="Aptos" panose="020B0004020202020204" pitchFamily="34" charset="0"/>
              </a:rPr>
              <a:t>PORTOFOLIO CONSTRUCTION</a:t>
            </a:r>
            <a:endParaRPr lang="fr-FR" sz="1800" b="1" dirty="0">
              <a:latin typeface="Aptos" panose="020B00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de-DE" sz="1800" b="1" dirty="0">
                <a:latin typeface="Aptos" panose="020B0004020202020204" pitchFamily="34" charset="0"/>
              </a:rPr>
              <a:t>POTENTIAL RISKS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de-DE" sz="1800" b="1" dirty="0">
                <a:latin typeface="Aptos" panose="020B0004020202020204" pitchFamily="34" charset="0"/>
              </a:rPr>
              <a:t>RISK MANAGEMENT</a:t>
            </a:r>
            <a:endParaRPr lang="fr-FR" sz="1800" b="1" dirty="0">
              <a:latin typeface="Aptos" panose="020B00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de-DE" sz="1800" b="1" dirty="0">
                <a:latin typeface="Aptos" panose="020B0004020202020204" pitchFamily="34" charset="0"/>
              </a:rPr>
              <a:t>BACKTESTING &amp; PERFORMANCE</a:t>
            </a:r>
            <a:endParaRPr lang="fr-FR" sz="1800" b="1" dirty="0">
              <a:latin typeface="Aptos" panose="020B00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800" b="1" dirty="0">
                <a:latin typeface="Aptos" panose="020B0004020202020204" pitchFamily="34" charset="0"/>
              </a:rPr>
              <a:t>PERFORMANCE METRICS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061077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A50C69-E90E-22E2-F184-C748DEEE1F82}"/>
              </a:ext>
            </a:extLst>
          </p:cNvPr>
          <p:cNvSpPr txBox="1"/>
          <p:nvPr/>
        </p:nvSpPr>
        <p:spPr>
          <a:xfrm>
            <a:off x="4926483" y="401879"/>
            <a:ext cx="23390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latin typeface="Aptos" panose="020B0004020202020204" pitchFamily="34" charset="0"/>
              </a:rPr>
              <a:t>CORE IDEA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8B884B-265F-71BD-D027-EF314F31E8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827" y="4236887"/>
            <a:ext cx="2600325" cy="17621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2BBEB2D-869C-1527-8CF7-B95562E2F4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8288" y="4302996"/>
            <a:ext cx="3264427" cy="162990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125F552-E9A1-6EC0-FC5F-9E01583DE9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9060" y="4326662"/>
            <a:ext cx="2852681" cy="160623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E727951-633B-E8C8-B5E4-7847620418C4}"/>
              </a:ext>
            </a:extLst>
          </p:cNvPr>
          <p:cNvSpPr txBox="1"/>
          <p:nvPr/>
        </p:nvSpPr>
        <p:spPr>
          <a:xfrm>
            <a:off x="1190512" y="1520785"/>
            <a:ext cx="2705548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SzPct val="50000"/>
              <a:buFont typeface="Wingdings" panose="05000000000000000000" pitchFamily="2" charset="2"/>
              <a:buChar char="Ø"/>
            </a:pPr>
            <a:r>
              <a:rPr lang="en-US" b="1" dirty="0">
                <a:latin typeface="Aptos" panose="020B0004020202020204" pitchFamily="34" charset="0"/>
              </a:rPr>
              <a:t>What’s the core investment hypothesis ?</a:t>
            </a:r>
          </a:p>
          <a:p>
            <a:endParaRPr lang="en-US" sz="1600" dirty="0">
              <a:latin typeface="Aptos" panose="020B0004020202020204" pitchFamily="34" charset="0"/>
            </a:endParaRPr>
          </a:p>
          <a:p>
            <a:r>
              <a:rPr lang="en-US" sz="16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Identify u</a:t>
            </a:r>
            <a:r>
              <a:rPr lang="en-US" sz="16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ndervalued stocks with strong fundamentals and positive momentum outperform over 1–3 years</a:t>
            </a:r>
            <a:endParaRPr lang="fr-FR" sz="1600" dirty="0"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0842A9-C7A6-DD13-2CCF-D2C6EB8C16AD}"/>
              </a:ext>
            </a:extLst>
          </p:cNvPr>
          <p:cNvSpPr txBox="1"/>
          <p:nvPr/>
        </p:nvSpPr>
        <p:spPr>
          <a:xfrm>
            <a:off x="4444701" y="1520785"/>
            <a:ext cx="3302598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SzPct val="50000"/>
              <a:buFont typeface="Wingdings" panose="05000000000000000000" pitchFamily="2" charset="2"/>
              <a:buChar char="Ø"/>
            </a:pPr>
            <a:r>
              <a:rPr lang="en-US" b="1" dirty="0"/>
              <a:t>Why does this opportunity exist ?</a:t>
            </a:r>
          </a:p>
          <a:p>
            <a:endParaRPr lang="en-US" sz="1600" b="1" dirty="0"/>
          </a:p>
          <a:p>
            <a:r>
              <a:rPr lang="en-US" sz="16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Investors often overlook high-quality undervalued companies, creating mispricing opportunities</a:t>
            </a:r>
            <a:endParaRPr lang="en-US" sz="1600" dirty="0"/>
          </a:p>
          <a:p>
            <a:r>
              <a:rPr lang="en-US" dirty="0"/>
              <a:t> </a:t>
            </a:r>
            <a:endParaRPr lang="fr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66AD3D-C029-1834-1171-BD02D561749C}"/>
              </a:ext>
            </a:extLst>
          </p:cNvPr>
          <p:cNvSpPr txBox="1"/>
          <p:nvPr/>
        </p:nvSpPr>
        <p:spPr>
          <a:xfrm>
            <a:off x="8295940" y="1510585"/>
            <a:ext cx="3227294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SzPct val="50000"/>
              <a:buFont typeface="Wingdings" panose="05000000000000000000" pitchFamily="2" charset="2"/>
              <a:buChar char="Ø"/>
            </a:pPr>
            <a:r>
              <a:rPr lang="en-US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Asset universe</a:t>
            </a:r>
          </a:p>
          <a:p>
            <a:endParaRPr lang="en-US" sz="18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Top 300 S&amp;P 500 companies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156467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1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1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re 1">
            <a:extLst>
              <a:ext uri="{FF2B5EF4-FFF2-40B4-BE49-F238E27FC236}">
                <a16:creationId xmlns:a16="http://schemas.microsoft.com/office/drawing/2014/main" id="{4E3F5479-058B-4FA8-92E9-18CAB8CDC5C5}"/>
              </a:ext>
            </a:extLst>
          </p:cNvPr>
          <p:cNvSpPr txBox="1">
            <a:spLocks/>
          </p:cNvSpPr>
          <p:nvPr/>
        </p:nvSpPr>
        <p:spPr>
          <a:xfrm>
            <a:off x="4281641" y="390818"/>
            <a:ext cx="3628718" cy="775597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rtl="0"/>
            <a:r>
              <a:rPr lang="de-DE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UNIVERSE &amp; DATA</a:t>
            </a:r>
            <a:br>
              <a:rPr lang="fr-FR" sz="2800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endParaRPr lang="fr-FR" sz="2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B00FDF25-7676-C722-BC52-28C80146238F}"/>
              </a:ext>
            </a:extLst>
          </p:cNvPr>
          <p:cNvSpPr/>
          <p:nvPr/>
        </p:nvSpPr>
        <p:spPr>
          <a:xfrm>
            <a:off x="1558229" y="2739038"/>
            <a:ext cx="2281695" cy="2281695"/>
          </a:xfrm>
          <a:prstGeom prst="flowChartConnector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Flowchart: Connector 4">
            <a:extLst>
              <a:ext uri="{FF2B5EF4-FFF2-40B4-BE49-F238E27FC236}">
                <a16:creationId xmlns:a16="http://schemas.microsoft.com/office/drawing/2014/main" id="{1422A617-C801-2FBA-842F-CF555A34DFC1}"/>
              </a:ext>
            </a:extLst>
          </p:cNvPr>
          <p:cNvSpPr/>
          <p:nvPr/>
        </p:nvSpPr>
        <p:spPr>
          <a:xfrm>
            <a:off x="3186938" y="2728613"/>
            <a:ext cx="2281695" cy="2281695"/>
          </a:xfrm>
          <a:prstGeom prst="flowChartConnector">
            <a:avLst/>
          </a:prstGeom>
          <a:solidFill>
            <a:srgbClr val="00B0F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Flowchart: Connector 2">
            <a:extLst>
              <a:ext uri="{FF2B5EF4-FFF2-40B4-BE49-F238E27FC236}">
                <a16:creationId xmlns:a16="http://schemas.microsoft.com/office/drawing/2014/main" id="{A693B99E-D3E7-36B0-309B-610EA2215425}"/>
              </a:ext>
            </a:extLst>
          </p:cNvPr>
          <p:cNvSpPr/>
          <p:nvPr/>
        </p:nvSpPr>
        <p:spPr>
          <a:xfrm>
            <a:off x="2211213" y="1267111"/>
            <a:ext cx="2281695" cy="2281695"/>
          </a:xfrm>
          <a:prstGeom prst="flowChartConnector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8EF3BE-F69F-F88B-9CF5-7AFEB1F02BB5}"/>
              </a:ext>
            </a:extLst>
          </p:cNvPr>
          <p:cNvSpPr txBox="1"/>
          <p:nvPr/>
        </p:nvSpPr>
        <p:spPr>
          <a:xfrm>
            <a:off x="2810336" y="2157889"/>
            <a:ext cx="12371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S&amp;P 500</a:t>
            </a:r>
            <a:endParaRPr lang="fr-F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02E440-4600-986D-BE6E-1F4CCCB30393}"/>
              </a:ext>
            </a:extLst>
          </p:cNvPr>
          <p:cNvSpPr txBox="1"/>
          <p:nvPr/>
        </p:nvSpPr>
        <p:spPr>
          <a:xfrm>
            <a:off x="1908103" y="3517364"/>
            <a:ext cx="1219583" cy="662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Market cap &gt; $5B</a:t>
            </a:r>
            <a:endParaRPr lang="fr-FR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8962C1-1836-1D18-3882-8BEF23715A83}"/>
              </a:ext>
            </a:extLst>
          </p:cNvPr>
          <p:cNvSpPr txBox="1"/>
          <p:nvPr/>
        </p:nvSpPr>
        <p:spPr>
          <a:xfrm>
            <a:off x="3835010" y="3511743"/>
            <a:ext cx="1743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Average daily volume &gt; 500k</a:t>
            </a:r>
            <a:endParaRPr lang="fr-FR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F48811A-28F6-E9AF-E038-787C9937B572}"/>
              </a:ext>
            </a:extLst>
          </p:cNvPr>
          <p:cNvGrpSpPr/>
          <p:nvPr/>
        </p:nvGrpSpPr>
        <p:grpSpPr>
          <a:xfrm>
            <a:off x="1341917" y="2157889"/>
            <a:ext cx="2194560" cy="1158900"/>
            <a:chOff x="489473" y="1038113"/>
            <a:chExt cx="2194560" cy="2533426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D5EBB80-3AE7-5C9C-F471-31F1EDF13766}"/>
                </a:ext>
              </a:extLst>
            </p:cNvPr>
            <p:cNvCxnSpPr/>
            <p:nvPr/>
          </p:nvCxnSpPr>
          <p:spPr>
            <a:xfrm>
              <a:off x="500231" y="3571539"/>
              <a:ext cx="2183802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E406BEC-FEAF-5910-25CC-C94AE2A68840}"/>
                </a:ext>
              </a:extLst>
            </p:cNvPr>
            <p:cNvCxnSpPr/>
            <p:nvPr/>
          </p:nvCxnSpPr>
          <p:spPr>
            <a:xfrm flipV="1">
              <a:off x="489473" y="1038113"/>
              <a:ext cx="0" cy="253342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74F1DE0A-BE7D-A29A-BF8E-6198E0AA6245}"/>
              </a:ext>
            </a:extLst>
          </p:cNvPr>
          <p:cNvSpPr txBox="1"/>
          <p:nvPr/>
        </p:nvSpPr>
        <p:spPr>
          <a:xfrm>
            <a:off x="912400" y="1740076"/>
            <a:ext cx="1786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8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Universe</a:t>
            </a:r>
            <a:endParaRPr lang="fr-FR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5D8A4FE-9C13-879C-77B9-91BEEF54BA17}"/>
              </a:ext>
            </a:extLst>
          </p:cNvPr>
          <p:cNvSpPr txBox="1"/>
          <p:nvPr/>
        </p:nvSpPr>
        <p:spPr>
          <a:xfrm>
            <a:off x="7575795" y="1740076"/>
            <a:ext cx="3910405" cy="305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lnSpc>
                <a:spcPct val="115000"/>
              </a:lnSpc>
              <a:spcAft>
                <a:spcPts val="800"/>
              </a:spcAft>
              <a:buSzPct val="60000"/>
              <a:buFont typeface="Wingdings" panose="05000000000000000000" pitchFamily="2" charset="2"/>
              <a:buChar char="Ø"/>
              <a:tabLst>
                <a:tab pos="457200" algn="l"/>
              </a:tabLst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Data (from </a:t>
            </a:r>
            <a:r>
              <a:rPr lang="en-US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yfinance</a:t>
            </a: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) </a:t>
            </a:r>
          </a:p>
          <a:p>
            <a:pPr marL="285750" lvl="0" indent="-285750">
              <a:lnSpc>
                <a:spcPct val="115000"/>
              </a:lnSpc>
              <a:spcAft>
                <a:spcPts val="800"/>
              </a:spcAft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Daily/weekly prices </a:t>
            </a:r>
          </a:p>
          <a:p>
            <a:pPr marL="285750" lvl="0" indent="-285750">
              <a:lnSpc>
                <a:spcPct val="115000"/>
              </a:lnSpc>
              <a:spcAft>
                <a:spcPts val="800"/>
              </a:spcAft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undamentals: P/E, P/B, EV/EBITDA, ROE, Debt/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quity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en-US" sz="18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indent="-285750">
              <a:buSzPct val="60000"/>
              <a:buFont typeface="Wingdings" panose="05000000000000000000" pitchFamily="2" charset="2"/>
              <a:buChar char="Ø"/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Frequency</a:t>
            </a:r>
            <a:b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Quarterly fundamentals, daily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prices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997151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7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7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750" fill="hold"/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750" fill="hold"/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750" fill="hold"/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750" fill="hold"/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750" fill="hold"/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750" fill="hold"/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750" fill="hold"/>
                                        <p:tgtEl>
                                          <p:spTgt spid="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750" fill="hold"/>
                                        <p:tgtEl>
                                          <p:spTgt spid="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5" grpId="0" animBg="1"/>
      <p:bldP spid="3" grpId="0" animBg="1"/>
      <p:bldP spid="9" grpId="0"/>
      <p:bldP spid="10" grpId="0"/>
      <p:bldP spid="12" grpId="0"/>
      <p:bldP spid="35" grpId="0"/>
      <p:bldP spid="3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E1F6F16-AC0E-190A-96DD-51FC9C311394}"/>
              </a:ext>
            </a:extLst>
          </p:cNvPr>
          <p:cNvSpPr txBox="1"/>
          <p:nvPr/>
        </p:nvSpPr>
        <p:spPr>
          <a:xfrm>
            <a:off x="834293" y="1859339"/>
            <a:ext cx="721461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b="1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Momentum filter: </a:t>
            </a:r>
            <a:r>
              <a:rPr lang="en-US" sz="20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Only select stocks with 	positive 3 and 12-month price momentum.</a:t>
            </a:r>
            <a:endParaRPr lang="en-US" sz="20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20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Value factors: </a:t>
            </a:r>
            <a:r>
              <a:rPr lang="en-US" sz="2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Low P/E, low EV/EBITDA, low P/B</a:t>
            </a:r>
            <a:endParaRPr lang="fr-FR" sz="20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200000"/>
              </a:lnSpc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20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Quality factors: </a:t>
            </a:r>
            <a:r>
              <a:rPr lang="en-US" sz="2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High ROE, low debt/equity</a:t>
            </a:r>
            <a:endParaRPr lang="fr-FR" sz="20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ABC202-3F61-4B28-908C-56E7D4F14637}"/>
              </a:ext>
            </a:extLst>
          </p:cNvPr>
          <p:cNvSpPr txBox="1"/>
          <p:nvPr/>
        </p:nvSpPr>
        <p:spPr>
          <a:xfrm>
            <a:off x="3863559" y="351963"/>
            <a:ext cx="4464882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SIGNAL DISIGN </a:t>
            </a:r>
            <a:r>
              <a:rPr lang="el-GR" sz="2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(Alpha)</a:t>
            </a:r>
            <a:endParaRPr lang="fr-FR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DE521D-76D5-A9D9-9A72-554E04C676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8875" y="4714875"/>
            <a:ext cx="2143125" cy="2143125"/>
          </a:xfrm>
          <a:prstGeom prst="rect">
            <a:avLst/>
          </a:prstGeom>
        </p:spPr>
      </p:pic>
      <p:sp>
        <p:nvSpPr>
          <p:cNvPr id="4" name="Right Brace 3">
            <a:extLst>
              <a:ext uri="{FF2B5EF4-FFF2-40B4-BE49-F238E27FC236}">
                <a16:creationId xmlns:a16="http://schemas.microsoft.com/office/drawing/2014/main" id="{C67E2DF5-659F-94F7-A322-5E0D8CA74164}"/>
              </a:ext>
            </a:extLst>
          </p:cNvPr>
          <p:cNvSpPr/>
          <p:nvPr/>
        </p:nvSpPr>
        <p:spPr>
          <a:xfrm>
            <a:off x="7425032" y="3367131"/>
            <a:ext cx="96645" cy="1285876"/>
          </a:xfrm>
          <a:prstGeom prst="rightBrace">
            <a:avLst>
              <a:gd name="adj1" fmla="val 8333"/>
              <a:gd name="adj2" fmla="val 49268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2282A7-1AB9-2304-85BD-0B8DCC8007FE}"/>
              </a:ext>
            </a:extLst>
          </p:cNvPr>
          <p:cNvSpPr txBox="1"/>
          <p:nvPr/>
        </p:nvSpPr>
        <p:spPr>
          <a:xfrm>
            <a:off x="7686353" y="3686903"/>
            <a:ext cx="22763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ptos" panose="020B0004020202020204" pitchFamily="34" charset="0"/>
              </a:rPr>
              <a:t>Composite Score to rank the stocks</a:t>
            </a:r>
          </a:p>
        </p:txBody>
      </p:sp>
    </p:spTree>
    <p:extLst>
      <p:ext uri="{BB962C8B-B14F-4D97-AF65-F5344CB8AC3E}">
        <p14:creationId xmlns:p14="http://schemas.microsoft.com/office/powerpoint/2010/main" val="1970895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918B75-F012-67A5-8371-15FCAC8D032A}"/>
              </a:ext>
            </a:extLst>
          </p:cNvPr>
          <p:cNvSpPr txBox="1"/>
          <p:nvPr/>
        </p:nvSpPr>
        <p:spPr>
          <a:xfrm>
            <a:off x="609724" y="1501733"/>
            <a:ext cx="5214321" cy="1237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lvl="0" indent="-285750">
              <a:lnSpc>
                <a:spcPct val="115000"/>
              </a:lnSpc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l-G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Long </a:t>
            </a:r>
            <a:r>
              <a:rPr lang="el-GR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top</a:t>
            </a:r>
            <a:r>
              <a:rPr lang="el-G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20 ranked stocks.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15000"/>
              </a:lnSpc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5% to each position (Equal weight)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CBBB1C-BA3A-CF92-4149-57B1F45A709E}"/>
              </a:ext>
            </a:extLst>
          </p:cNvPr>
          <p:cNvSpPr txBox="1"/>
          <p:nvPr/>
        </p:nvSpPr>
        <p:spPr>
          <a:xfrm>
            <a:off x="3382500" y="407005"/>
            <a:ext cx="542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dirty="0">
                <a:latin typeface="Aptos" panose="020B0004020202020204" pitchFamily="34" charset="0"/>
              </a:rPr>
              <a:t>PORTOFOLIO CONSTRUCTION</a:t>
            </a:r>
            <a:endParaRPr lang="fr-FR" sz="2800" b="1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140597-3BAF-73B0-9ADA-6B5D28AE5C61}"/>
              </a:ext>
            </a:extLst>
          </p:cNvPr>
          <p:cNvSpPr txBox="1"/>
          <p:nvPr/>
        </p:nvSpPr>
        <p:spPr>
          <a:xfrm>
            <a:off x="609724" y="4799607"/>
            <a:ext cx="41385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Rebalance</a:t>
            </a:r>
            <a:r>
              <a:rPr lang="el-GR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semi-annually</a:t>
            </a:r>
            <a:r>
              <a:rPr lang="de-DE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and </a:t>
            </a:r>
            <a:r>
              <a:rPr lang="de-DE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whe</a:t>
            </a:r>
            <a:r>
              <a:rPr lang="de-DE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</a:t>
            </a:r>
            <a:r>
              <a:rPr lang="de-DE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s</a:t>
            </a:r>
            <a:r>
              <a:rPr lang="en-US" dirty="0">
                <a:latin typeface="Aptos" panose="020B0004020202020204" pitchFamily="34" charset="0"/>
              </a:rPr>
              <a:t>tock is no more part of the S&amp;P 500 we replace it according to our strategy .</a:t>
            </a:r>
          </a:p>
          <a:p>
            <a:endParaRPr lang="fr-FR" dirty="0"/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7918A840-E618-94F5-4339-107785544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10976376"/>
              </p:ext>
            </p:extLst>
          </p:nvPr>
        </p:nvGraphicFramePr>
        <p:xfrm>
          <a:off x="5283307" y="1063355"/>
          <a:ext cx="5547399" cy="41939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Right Brace 7">
            <a:extLst>
              <a:ext uri="{FF2B5EF4-FFF2-40B4-BE49-F238E27FC236}">
                <a16:creationId xmlns:a16="http://schemas.microsoft.com/office/drawing/2014/main" id="{DEA95474-E8D2-5AEC-7973-23F78D81CE3A}"/>
              </a:ext>
            </a:extLst>
          </p:cNvPr>
          <p:cNvSpPr/>
          <p:nvPr/>
        </p:nvSpPr>
        <p:spPr>
          <a:xfrm>
            <a:off x="10324056" y="1430594"/>
            <a:ext cx="299693" cy="1729733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8AFD0A6-538B-8AED-E71E-E550DA9B58FB}"/>
              </a:ext>
            </a:extLst>
          </p:cNvPr>
          <p:cNvCxnSpPr/>
          <p:nvPr/>
        </p:nvCxnSpPr>
        <p:spPr>
          <a:xfrm>
            <a:off x="8057007" y="1430594"/>
            <a:ext cx="2200496" cy="0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9AF5B98-A362-34FE-0F4A-F6AEC108A5F3}"/>
              </a:ext>
            </a:extLst>
          </p:cNvPr>
          <p:cNvCxnSpPr/>
          <p:nvPr/>
        </p:nvCxnSpPr>
        <p:spPr>
          <a:xfrm>
            <a:off x="9778181" y="3160328"/>
            <a:ext cx="545875" cy="0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68A7E1F-3ADD-EFDE-9598-76EBF0D9E958}"/>
              </a:ext>
            </a:extLst>
          </p:cNvPr>
          <p:cNvSpPr txBox="1"/>
          <p:nvPr/>
        </p:nvSpPr>
        <p:spPr>
          <a:xfrm>
            <a:off x="10623749" y="2123768"/>
            <a:ext cx="162232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b="1" dirty="0">
                <a:solidFill>
                  <a:srgbClr val="F5F5F5"/>
                </a:solidFill>
                <a:latin typeface="Aptos" panose="020B0004020202020204" pitchFamily="34" charset="0"/>
              </a:rPr>
              <a:t>5% per stock </a:t>
            </a:r>
            <a:endParaRPr lang="fr-FR" sz="1050" dirty="0">
              <a:solidFill>
                <a:schemeClr val="tx1"/>
              </a:solidFill>
            </a:endParaRP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43390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7" grpId="0">
        <p:bldAsOne/>
      </p:bldGraphic>
      <p:bldP spid="8" grpId="0" animBg="1"/>
      <p:bldP spid="2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CF369F8-A45E-A725-B2B9-BCAFAADCD144}"/>
              </a:ext>
            </a:extLst>
          </p:cNvPr>
          <p:cNvSpPr txBox="1"/>
          <p:nvPr/>
        </p:nvSpPr>
        <p:spPr>
          <a:xfrm>
            <a:off x="4219911" y="355131"/>
            <a:ext cx="37521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800" b="1" dirty="0">
                <a:latin typeface="Aptos" panose="020B0004020202020204" pitchFamily="34" charset="0"/>
              </a:rPr>
              <a:t>POTENTIAL RISKS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C19A3E-7532-7CC2-C911-AE6E8C55826D}"/>
              </a:ext>
            </a:extLst>
          </p:cNvPr>
          <p:cNvSpPr txBox="1"/>
          <p:nvPr/>
        </p:nvSpPr>
        <p:spPr>
          <a:xfrm>
            <a:off x="7042674" y="1622886"/>
            <a:ext cx="7214617" cy="34976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lnSpc>
                <a:spcPct val="200000"/>
              </a:lnSpc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2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Momentum Crashes</a:t>
            </a:r>
            <a:endParaRPr lang="fr-FR" sz="2000" dirty="0"/>
          </a:p>
          <a:p>
            <a:pPr marL="342900" lvl="0" indent="-342900">
              <a:lnSpc>
                <a:spcPct val="200000"/>
              </a:lnSpc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fr-FR" sz="20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Sudden</a:t>
            </a:r>
            <a:r>
              <a:rPr lang="fr-FR" sz="2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20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Regime</a:t>
            </a:r>
            <a:r>
              <a:rPr lang="fr-FR" sz="2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Change</a:t>
            </a:r>
          </a:p>
          <a:p>
            <a:pPr marL="342900" lvl="0" indent="-342900">
              <a:lnSpc>
                <a:spcPct val="200000"/>
              </a:lnSpc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2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Sector Concentration</a:t>
            </a:r>
          </a:p>
          <a:p>
            <a:pPr marL="342900" lvl="0" indent="-342900">
              <a:lnSpc>
                <a:spcPct val="200000"/>
              </a:lnSpc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20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Survivorship Bias</a:t>
            </a:r>
          </a:p>
          <a:p>
            <a:pPr marL="342900" lvl="0" indent="-342900">
              <a:lnSpc>
                <a:spcPct val="200000"/>
              </a:lnSpc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2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Limited Hedging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057E55-C153-7AC1-8299-85A8BA4237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5044" y="2357437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77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0E56C4-589C-9FE6-2F51-89E75523B498}"/>
              </a:ext>
            </a:extLst>
          </p:cNvPr>
          <p:cNvSpPr txBox="1"/>
          <p:nvPr/>
        </p:nvSpPr>
        <p:spPr>
          <a:xfrm>
            <a:off x="854497" y="1866945"/>
            <a:ext cx="6793347" cy="3401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Stop-loss:</a:t>
            </a:r>
            <a:r>
              <a:rPr lang="en-US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deterioration in fundamentals.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endParaRPr lang="fr-FR" sz="2400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l-GR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Max 30% </a:t>
            </a:r>
            <a:r>
              <a:rPr lang="el-GR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exposure per sector.</a:t>
            </a:r>
            <a:endParaRPr lang="de-DE" sz="2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endParaRPr lang="fr-FR" sz="2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Track: </a:t>
            </a:r>
            <a:r>
              <a:rPr lang="en-US" sz="2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max drawdown, Sharpe ratio</a:t>
            </a:r>
            <a:r>
              <a:rPr lang="en-US" sz="24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VaR</a:t>
            </a:r>
            <a:r>
              <a:rPr lang="en-US" sz="24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CVaR</a:t>
            </a:r>
            <a:endParaRPr lang="en-US" sz="24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en-US" sz="18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A265E5-2326-7FB4-FD5E-479745A7781C}"/>
              </a:ext>
            </a:extLst>
          </p:cNvPr>
          <p:cNvSpPr txBox="1"/>
          <p:nvPr/>
        </p:nvSpPr>
        <p:spPr>
          <a:xfrm>
            <a:off x="4251171" y="460473"/>
            <a:ext cx="36896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dirty="0">
                <a:latin typeface="Aptos" panose="020B0004020202020204" pitchFamily="34" charset="0"/>
              </a:rPr>
              <a:t>RISK MANAGEMENT</a:t>
            </a:r>
            <a:endParaRPr lang="fr-FR" sz="2800" b="1" dirty="0"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D65129-533B-8D0A-9202-87967BE18B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3619" y="5765194"/>
            <a:ext cx="2710170" cy="773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643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4E5984-0385-EB90-C885-D4D4805EF6D3}"/>
              </a:ext>
            </a:extLst>
          </p:cNvPr>
          <p:cNvSpPr txBox="1"/>
          <p:nvPr/>
        </p:nvSpPr>
        <p:spPr>
          <a:xfrm>
            <a:off x="767308" y="1837211"/>
            <a:ext cx="7570867" cy="38574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lnSpc>
                <a:spcPct val="200000"/>
              </a:lnSpc>
              <a:spcAft>
                <a:spcPts val="800"/>
              </a:spcAft>
              <a:buSzPct val="100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l-GR" sz="20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Period:</a:t>
            </a:r>
            <a:r>
              <a:rPr lang="el-GR" sz="2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l-GR" sz="20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Last</a:t>
            </a:r>
            <a:r>
              <a:rPr lang="el-GR" sz="2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20</a:t>
            </a:r>
            <a:r>
              <a:rPr lang="el-GR" sz="2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l-GR" sz="20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years</a:t>
            </a:r>
            <a:endParaRPr lang="fr-FR" sz="20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200000"/>
              </a:lnSpc>
              <a:spcAft>
                <a:spcPts val="800"/>
              </a:spcAft>
              <a:buSzPct val="100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0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Benchmark:</a:t>
            </a:r>
            <a:r>
              <a:rPr lang="en-US" sz="2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S&amp;P 500</a:t>
            </a:r>
          </a:p>
          <a:p>
            <a:pPr marL="342900" lvl="0" indent="-342900">
              <a:lnSpc>
                <a:spcPct val="200000"/>
              </a:lnSpc>
              <a:spcAft>
                <a:spcPts val="800"/>
              </a:spcAft>
              <a:buSzPct val="100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0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Metrics:</a:t>
            </a:r>
            <a:r>
              <a:rPr lang="en-US" sz="2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Annualized return, Annualized Volatility, Sharpe ratio, Max Drawdown, </a:t>
            </a:r>
            <a:r>
              <a:rPr lang="en-US" sz="20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Va</a:t>
            </a:r>
            <a:r>
              <a:rPr lang="en-US" sz="20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</a:t>
            </a:r>
            <a:r>
              <a:rPr lang="en-US" sz="2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20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CVa</a:t>
            </a:r>
            <a:r>
              <a:rPr lang="en-US" sz="20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</a:t>
            </a:r>
            <a:endParaRPr lang="fr-FR" sz="20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200000"/>
              </a:lnSpc>
              <a:spcAft>
                <a:spcPts val="800"/>
              </a:spcAft>
              <a:buSzPct val="100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Stress test during market crises (2008, 2020).</a:t>
            </a:r>
            <a:endParaRPr lang="fr-FR" sz="20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0B7651-B80D-F291-4A1D-1DD563DE679D}"/>
              </a:ext>
            </a:extLst>
          </p:cNvPr>
          <p:cNvSpPr txBox="1"/>
          <p:nvPr/>
        </p:nvSpPr>
        <p:spPr>
          <a:xfrm>
            <a:off x="3182772" y="365604"/>
            <a:ext cx="5826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dirty="0">
                <a:latin typeface="Aptos" panose="020B0004020202020204" pitchFamily="34" charset="0"/>
              </a:rPr>
              <a:t>BACKTESTING &amp; PERFORMANCE</a:t>
            </a:r>
            <a:endParaRPr lang="fr-FR" sz="2800" b="1" dirty="0">
              <a:latin typeface="Aptos" panose="020B00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258378-A27E-F41D-ED98-3B05CAA915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8875" y="4714875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389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25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25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n a black background&#10;&#10;AI-generated content may be incorrect.">
            <a:extLst>
              <a:ext uri="{FF2B5EF4-FFF2-40B4-BE49-F238E27FC236}">
                <a16:creationId xmlns:a16="http://schemas.microsoft.com/office/drawing/2014/main" id="{D8832100-A4C3-CB01-F717-F39D65F074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9" y="228593"/>
            <a:ext cx="10972822" cy="6400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829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307793-7712-5E09-AF30-DE11FC656F79}"/>
              </a:ext>
            </a:extLst>
          </p:cNvPr>
          <p:cNvSpPr txBox="1"/>
          <p:nvPr/>
        </p:nvSpPr>
        <p:spPr>
          <a:xfrm>
            <a:off x="822704" y="1830008"/>
            <a:ext cx="9746974" cy="37028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Aptos" panose="020B0004020202020204" pitchFamily="34" charset="0"/>
              </a:rPr>
              <a:t>Annual Return:   </a:t>
            </a:r>
            <a:r>
              <a:rPr lang="en-US" sz="2000" b="1" dirty="0">
                <a:latin typeface="Aptos" panose="020B0004020202020204" pitchFamily="34" charset="0"/>
              </a:rPr>
              <a:t>12.67%</a:t>
            </a:r>
            <a:r>
              <a:rPr lang="en-US" sz="2000" dirty="0">
                <a:latin typeface="Aptos" panose="020B0004020202020204" pitchFamily="34" charset="0"/>
              </a:rPr>
              <a:t> | Benchmark: </a:t>
            </a:r>
            <a:r>
              <a:rPr lang="en-US" sz="2000" b="1" dirty="0">
                <a:latin typeface="Aptos" panose="020B0004020202020204" pitchFamily="34" charset="0"/>
              </a:rPr>
              <a:t>8.10%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Aptos" panose="020B0004020202020204" pitchFamily="34" charset="0"/>
              </a:rPr>
              <a:t>Annual Vol:      </a:t>
            </a:r>
            <a:r>
              <a:rPr lang="en-US" sz="2000" b="1" dirty="0">
                <a:latin typeface="Aptos" panose="020B0004020202020204" pitchFamily="34" charset="0"/>
              </a:rPr>
              <a:t>18.96%</a:t>
            </a:r>
            <a:r>
              <a:rPr lang="en-US" sz="2000" dirty="0">
                <a:latin typeface="Aptos" panose="020B0004020202020204" pitchFamily="34" charset="0"/>
              </a:rPr>
              <a:t> | Benchmark: </a:t>
            </a:r>
            <a:r>
              <a:rPr lang="en-US" sz="2000" b="1" dirty="0">
                <a:latin typeface="Aptos" panose="020B0004020202020204" pitchFamily="34" charset="0"/>
              </a:rPr>
              <a:t>19.20%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Aptos" panose="020B0004020202020204" pitchFamily="34" charset="0"/>
              </a:rPr>
              <a:t>Sharpe Ratio:    </a:t>
            </a:r>
            <a:r>
              <a:rPr lang="en-US" sz="2000" b="1" dirty="0">
                <a:latin typeface="Aptos" panose="020B0004020202020204" pitchFamily="34" charset="0"/>
              </a:rPr>
              <a:t>0.67</a:t>
            </a:r>
            <a:r>
              <a:rPr lang="en-US" sz="2000" dirty="0">
                <a:latin typeface="Aptos" panose="020B0004020202020204" pitchFamily="34" charset="0"/>
              </a:rPr>
              <a:t> | Benchmark: </a:t>
            </a:r>
            <a:r>
              <a:rPr lang="en-US" sz="2000" b="1" dirty="0">
                <a:latin typeface="Aptos" panose="020B0004020202020204" pitchFamily="34" charset="0"/>
              </a:rPr>
              <a:t>0.42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Aptos" panose="020B0004020202020204" pitchFamily="34" charset="0"/>
              </a:rPr>
              <a:t>Max Drawdown: </a:t>
            </a:r>
            <a:r>
              <a:rPr lang="en-US" sz="2000" b="1" dirty="0">
                <a:latin typeface="Aptos" panose="020B0004020202020204" pitchFamily="34" charset="0"/>
              </a:rPr>
              <a:t>-41.67% </a:t>
            </a:r>
            <a:r>
              <a:rPr lang="en-US" sz="2000" dirty="0">
                <a:latin typeface="Aptos" panose="020B0004020202020204" pitchFamily="34" charset="0"/>
              </a:rPr>
              <a:t>| Benchmark: </a:t>
            </a:r>
            <a:r>
              <a:rPr lang="en-US" sz="2000" b="1" dirty="0">
                <a:latin typeface="Aptos" panose="020B0004020202020204" pitchFamily="34" charset="0"/>
              </a:rPr>
              <a:t>-56.75%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Aptos" panose="020B0004020202020204" pitchFamily="34" charset="0"/>
              </a:rPr>
              <a:t>95% </a:t>
            </a:r>
            <a:r>
              <a:rPr lang="en-US" sz="2000" dirty="0" err="1">
                <a:latin typeface="Aptos" panose="020B0004020202020204" pitchFamily="34" charset="0"/>
              </a:rPr>
              <a:t>VaR</a:t>
            </a:r>
            <a:r>
              <a:rPr lang="en-US" sz="2000" dirty="0">
                <a:latin typeface="Aptos" panose="020B0004020202020204" pitchFamily="34" charset="0"/>
              </a:rPr>
              <a:t> (daily): </a:t>
            </a:r>
            <a:r>
              <a:rPr lang="en-US" sz="2000" b="1" dirty="0">
                <a:latin typeface="Aptos" panose="020B0004020202020204" pitchFamily="34" charset="0"/>
              </a:rPr>
              <a:t>-1.84% </a:t>
            </a:r>
            <a:r>
              <a:rPr lang="en-US" sz="2000" dirty="0">
                <a:latin typeface="Aptos" panose="020B0004020202020204" pitchFamily="34" charset="0"/>
              </a:rPr>
              <a:t>| Benchmark: </a:t>
            </a:r>
            <a:r>
              <a:rPr lang="en-US" sz="2000" b="1" dirty="0">
                <a:latin typeface="Aptos" panose="020B0004020202020204" pitchFamily="34" charset="0"/>
              </a:rPr>
              <a:t>-1.81%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Aptos" panose="020B0004020202020204" pitchFamily="34" charset="0"/>
              </a:rPr>
              <a:t>95% CVaR (Expected daily Shortfall): </a:t>
            </a:r>
            <a:r>
              <a:rPr lang="en-US" sz="2000" b="1" dirty="0">
                <a:latin typeface="Aptos" panose="020B0004020202020204" pitchFamily="34" charset="0"/>
              </a:rPr>
              <a:t>-2.87% </a:t>
            </a:r>
            <a:r>
              <a:rPr lang="en-US" sz="2000" dirty="0">
                <a:latin typeface="Aptos" panose="020B0004020202020204" pitchFamily="34" charset="0"/>
              </a:rPr>
              <a:t>| Benchmark: </a:t>
            </a:r>
            <a:r>
              <a:rPr lang="en-US" sz="2000" b="1" dirty="0">
                <a:latin typeface="Aptos" panose="020B0004020202020204" pitchFamily="34" charset="0"/>
              </a:rPr>
              <a:t>-2.98%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C5A349-F906-E4F6-645B-5F095661990F}"/>
              </a:ext>
            </a:extLst>
          </p:cNvPr>
          <p:cNvSpPr txBox="1"/>
          <p:nvPr/>
        </p:nvSpPr>
        <p:spPr>
          <a:xfrm>
            <a:off x="3940668" y="304799"/>
            <a:ext cx="43106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PERFORMANCE METRICS</a:t>
            </a:r>
          </a:p>
        </p:txBody>
      </p:sp>
    </p:spTree>
    <p:extLst>
      <p:ext uri="{BB962C8B-B14F-4D97-AF65-F5344CB8AC3E}">
        <p14:creationId xmlns:p14="http://schemas.microsoft.com/office/powerpoint/2010/main" val="1853070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n a black background&#10;&#10;AI-generated content may be incorrect.">
            <a:extLst>
              <a:ext uri="{FF2B5EF4-FFF2-40B4-BE49-F238E27FC236}">
                <a16:creationId xmlns:a16="http://schemas.microsoft.com/office/drawing/2014/main" id="{F843252F-0DBB-F913-780E-9D1A414962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9" y="228593"/>
            <a:ext cx="10972822" cy="6400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926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with blue and orange lines&#10;&#10;AI-generated content may be incorrect.">
            <a:extLst>
              <a:ext uri="{FF2B5EF4-FFF2-40B4-BE49-F238E27FC236}">
                <a16:creationId xmlns:a16="http://schemas.microsoft.com/office/drawing/2014/main" id="{01E86EFA-8DEB-D0B3-3FEF-2F5DB205E5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9" y="228593"/>
            <a:ext cx="10972822" cy="6400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521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2D0A2C-D804-8711-DB7C-B9D4B16C9C84}"/>
              </a:ext>
            </a:extLst>
          </p:cNvPr>
          <p:cNvSpPr txBox="1"/>
          <p:nvPr/>
        </p:nvSpPr>
        <p:spPr>
          <a:xfrm>
            <a:off x="2264893" y="2670671"/>
            <a:ext cx="62815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latin typeface="Aptos" panose="020B0004020202020204" pitchFamily="34" charset="0"/>
              </a:rPr>
              <a:t>How realistic is it</a:t>
            </a:r>
            <a:endParaRPr lang="en-US" sz="4800" b="1" dirty="0">
              <a:solidFill>
                <a:srgbClr val="FFFF00"/>
              </a:solidFill>
              <a:latin typeface="Aptos" panose="020B00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CB070F-F49D-9A3D-7517-C75C582E203C}"/>
              </a:ext>
            </a:extLst>
          </p:cNvPr>
          <p:cNvSpPr txBox="1"/>
          <p:nvPr/>
        </p:nvSpPr>
        <p:spPr>
          <a:xfrm rot="1170755">
            <a:off x="8155858" y="1690061"/>
            <a:ext cx="1224116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600" b="1" dirty="0">
                <a:solidFill>
                  <a:srgbClr val="FFFF00"/>
                </a:solidFill>
                <a:latin typeface="Aptos" panose="020B0004020202020204" pitchFamily="34" charset="0"/>
              </a:rPr>
              <a:t>?</a:t>
            </a:r>
            <a:endParaRPr lang="fr-FR" sz="16600" b="1" dirty="0">
              <a:solidFill>
                <a:srgbClr val="FFFF0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5062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8644FD-0B70-CA7D-A674-10387ECE2F91}"/>
              </a:ext>
            </a:extLst>
          </p:cNvPr>
          <p:cNvSpPr txBox="1"/>
          <p:nvPr/>
        </p:nvSpPr>
        <p:spPr>
          <a:xfrm>
            <a:off x="872934" y="1876944"/>
            <a:ext cx="7275443" cy="2471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ptos" panose="020B0004020202020204" pitchFamily="34" charset="0"/>
              </a:rPr>
              <a:t>Liquidity</a:t>
            </a:r>
            <a:r>
              <a:rPr lang="en-US" sz="2000" dirty="0">
                <a:latin typeface="Aptos" panose="020B0004020202020204" pitchFamily="34" charset="0"/>
              </a:rPr>
              <a:t> (S&amp;P 500 Stocks)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ptos" panose="020B0004020202020204" pitchFamily="34" charset="0"/>
              </a:rPr>
              <a:t>Academically Proven Anomalies </a:t>
            </a:r>
            <a:r>
              <a:rPr lang="en-US" sz="2000" dirty="0">
                <a:latin typeface="Aptos" panose="020B0004020202020204" pitchFamily="34" charset="0"/>
              </a:rPr>
              <a:t>(Fama &amp; French (1992), </a:t>
            </a:r>
            <a:r>
              <a:rPr lang="en-US" sz="2000" dirty="0" err="1">
                <a:latin typeface="Aptos" panose="020B0004020202020204" pitchFamily="34" charset="0"/>
              </a:rPr>
              <a:t>Asness</a:t>
            </a:r>
            <a:r>
              <a:rPr lang="en-US" sz="2000" dirty="0">
                <a:latin typeface="Aptos" panose="020B0004020202020204" pitchFamily="34" charset="0"/>
              </a:rPr>
              <a:t> et al. (2013) (2019))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ptos" panose="020B0004020202020204" pitchFamily="34" charset="0"/>
              </a:rPr>
              <a:t>Minimal Trading </a:t>
            </a:r>
            <a:r>
              <a:rPr lang="en-US" sz="2000" b="1" dirty="0" err="1">
                <a:latin typeface="Aptos" panose="020B0004020202020204" pitchFamily="34" charset="0"/>
              </a:rPr>
              <a:t>Commisions</a:t>
            </a:r>
            <a:r>
              <a:rPr lang="en-US" sz="2000" b="1" dirty="0">
                <a:latin typeface="Aptos" panose="020B0004020202020204" pitchFamily="34" charset="0"/>
              </a:rPr>
              <a:t> </a:t>
            </a:r>
            <a:r>
              <a:rPr lang="en-US" sz="2000" dirty="0">
                <a:latin typeface="Aptos" panose="020B0004020202020204" pitchFamily="34" charset="0"/>
              </a:rPr>
              <a:t>(Semi-Annual Rebalancing)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D3E21C-5EB4-9BBF-F71C-531C41F0BB3B}"/>
              </a:ext>
            </a:extLst>
          </p:cNvPr>
          <p:cNvSpPr txBox="1"/>
          <p:nvPr/>
        </p:nvSpPr>
        <p:spPr>
          <a:xfrm>
            <a:off x="4983259" y="490331"/>
            <a:ext cx="2672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Aptos" panose="020B0004020202020204" pitchFamily="34" charset="0"/>
              </a:rPr>
              <a:t>REAL WORLD</a:t>
            </a:r>
          </a:p>
        </p:txBody>
      </p:sp>
    </p:spTree>
    <p:extLst>
      <p:ext uri="{BB962C8B-B14F-4D97-AF65-F5344CB8AC3E}">
        <p14:creationId xmlns:p14="http://schemas.microsoft.com/office/powerpoint/2010/main" val="4062003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907F16F-8618-E488-5A2D-45DE734A8426}"/>
              </a:ext>
            </a:extLst>
          </p:cNvPr>
          <p:cNvSpPr txBox="1"/>
          <p:nvPr/>
        </p:nvSpPr>
        <p:spPr>
          <a:xfrm>
            <a:off x="1062590" y="2303738"/>
            <a:ext cx="102610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b="1" dirty="0">
                <a:latin typeface="Aptos" panose="020B0004020202020204" pitchFamily="34" charset="0"/>
              </a:rPr>
              <a:t>THANK YOU FOR YOUR ATTENTION !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F9E714-8DF4-6854-F113-3B5E20BC9F34}"/>
              </a:ext>
            </a:extLst>
          </p:cNvPr>
          <p:cNvSpPr txBox="1"/>
          <p:nvPr/>
        </p:nvSpPr>
        <p:spPr>
          <a:xfrm>
            <a:off x="626851" y="5995512"/>
            <a:ext cx="5840316" cy="469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ptos" panose="020B0004020202020204" pitchFamily="34" charset="0"/>
              </a:rPr>
              <a:t>All the </a:t>
            </a:r>
            <a:r>
              <a:rPr lang="en-US" sz="1050" b="1" dirty="0">
                <a:latin typeface="Aptos" panose="020B0004020202020204" pitchFamily="34" charset="0"/>
              </a:rPr>
              <a:t>updated</a:t>
            </a:r>
            <a:r>
              <a:rPr lang="en-US" sz="1050" dirty="0">
                <a:latin typeface="Aptos" panose="020B0004020202020204" pitchFamily="34" charset="0"/>
              </a:rPr>
              <a:t> code can be found at: </a:t>
            </a:r>
          </a:p>
          <a:p>
            <a:r>
              <a:rPr lang="en-US" sz="1050" dirty="0">
                <a:latin typeface="Aptos" panose="020B0004020202020204" pitchFamily="34" charset="0"/>
                <a:hlinkClick r:id="rId2"/>
              </a:rPr>
              <a:t>https://github.com/GeorgeMoschovis/Value-Quality-Momentum-Strategy</a:t>
            </a:r>
            <a:r>
              <a:rPr lang="en-US" sz="1400" dirty="0">
                <a:latin typeface="Aptos" panose="020B0004020202020204" pitchFamily="34" charset="0"/>
                <a:hlinkClick r:id="rId2"/>
              </a:rPr>
              <a:t> </a:t>
            </a:r>
            <a:endParaRPr lang="en-US" sz="140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4B18FC-0EDC-0B09-7A43-C26D39B91CEB}"/>
              </a:ext>
            </a:extLst>
          </p:cNvPr>
          <p:cNvSpPr txBox="1"/>
          <p:nvPr/>
        </p:nvSpPr>
        <p:spPr>
          <a:xfrm>
            <a:off x="8997706" y="5966156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b="1" dirty="0">
                <a:latin typeface="Aptos" panose="020B0004020202020204" pitchFamily="34" charset="0"/>
              </a:rPr>
              <a:t>George Moschovis &amp; Florent </a:t>
            </a:r>
            <a:r>
              <a:rPr lang="de-DE" sz="1050" b="1" dirty="0" err="1">
                <a:latin typeface="Aptos" panose="020B0004020202020204" pitchFamily="34" charset="0"/>
              </a:rPr>
              <a:t>Yigbe</a:t>
            </a:r>
            <a:endParaRPr lang="de-DE" sz="1050" b="1" dirty="0">
              <a:latin typeface="Aptos" panose="020B0004020202020204" pitchFamily="34" charset="0"/>
            </a:endParaRPr>
          </a:p>
          <a:p>
            <a:r>
              <a:rPr lang="de-DE" sz="1050" b="1" dirty="0">
                <a:latin typeface="Aptos" panose="020B0004020202020204" pitchFamily="34" charset="0"/>
              </a:rPr>
              <a:t>G_5 Gamma Gurus</a:t>
            </a:r>
            <a:endParaRPr lang="fr-FR" sz="1050" b="1" dirty="0">
              <a:latin typeface="Aptos" panose="020B0004020202020204" pitchFamily="34" charset="0"/>
            </a:endParaRPr>
          </a:p>
        </p:txBody>
      </p:sp>
      <p:pic>
        <p:nvPicPr>
          <p:cNvPr id="11" name="Picture 10" descr="A black and white logo&#10;&#10;AI-generated content may be incorrect.">
            <a:extLst>
              <a:ext uri="{FF2B5EF4-FFF2-40B4-BE49-F238E27FC236}">
                <a16:creationId xmlns:a16="http://schemas.microsoft.com/office/drawing/2014/main" id="{3F1950A6-868E-740C-F579-923F68BF23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07"/>
          <a:stretch>
            <a:fillRect/>
          </a:stretch>
        </p:blipFill>
        <p:spPr>
          <a:xfrm>
            <a:off x="234432" y="5966156"/>
            <a:ext cx="458787" cy="460692"/>
          </a:xfrm>
          <a:prstGeom prst="rect">
            <a:avLst/>
          </a:prstGeom>
        </p:spPr>
      </p:pic>
      <p:pic>
        <p:nvPicPr>
          <p:cNvPr id="12" name="Picture 11" descr="A white silhouette of a deer&#10;&#10;AI-generated content may be incorrect.">
            <a:extLst>
              <a:ext uri="{FF2B5EF4-FFF2-40B4-BE49-F238E27FC236}">
                <a16:creationId xmlns:a16="http://schemas.microsoft.com/office/drawing/2014/main" id="{D5DF4C93-10FE-EF53-FA29-72632E3BF3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8206" y="5966155"/>
            <a:ext cx="430887" cy="430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487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48</TotalTime>
  <Words>484</Words>
  <Application>Microsoft Office PowerPoint</Application>
  <PresentationFormat>Widescreen</PresentationFormat>
  <Paragraphs>92</Paragraphs>
  <Slides>16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Aptos</vt:lpstr>
      <vt:lpstr>Arial</vt:lpstr>
      <vt:lpstr>Calibri</vt:lpstr>
      <vt:lpstr>Calibri Light</vt:lpstr>
      <vt:lpstr>Symbol</vt:lpstr>
      <vt:lpstr>Wingdings</vt:lpstr>
      <vt:lpstr>Retrospect</vt:lpstr>
      <vt:lpstr>Value-Quality-Momentum Strategy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Kofi Yigbe</dc:creator>
  <cp:lastModifiedBy>GEORGIOS MOSCHOVIS</cp:lastModifiedBy>
  <cp:revision>26</cp:revision>
  <dcterms:created xsi:type="dcterms:W3CDTF">2025-11-16T21:40:45Z</dcterms:created>
  <dcterms:modified xsi:type="dcterms:W3CDTF">2025-11-20T12:18:38Z</dcterms:modified>
</cp:coreProperties>
</file>